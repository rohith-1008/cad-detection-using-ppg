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67" r:id="rId14"/>
    <p:sldId id="268" r:id="rId15"/>
    <p:sldId id="271" r:id="rId16"/>
    <p:sldId id="278" r:id="rId17"/>
    <p:sldId id="279" r:id="rId18"/>
    <p:sldId id="272" r:id="rId19"/>
    <p:sldId id="273" r:id="rId20"/>
    <p:sldId id="274" r:id="rId21"/>
    <p:sldId id="280" r:id="rId22"/>
    <p:sldId id="281" r:id="rId23"/>
    <p:sldId id="275" r:id="rId24"/>
    <p:sldId id="276" r:id="rId25"/>
    <p:sldId id="277" r:id="rId26"/>
    <p:sldId id="269" r:id="rId27"/>
  </p:sldIdLst>
  <p:sldSz cx="12192000" cy="6858000"/>
  <p:notesSz cx="7559675" cy="10691813"/>
  <p:embeddedFontLst>
    <p:embeddedFont>
      <p:font typeface="Wingdings 2" panose="05020102010507070707" pitchFamily="18" charset="2"/>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097AAA-96DC-4D88-958D-D62B003D6693}"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950" y="5078600"/>
            <a:ext cx="6047725" cy="48113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1: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 name="Google Shape;62;p1: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2: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 name="Google Shape;69;p2: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3: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 name="Google Shape;75;p3: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4: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4: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5: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5: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bc3339e41b_0_0: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g3bc3339e41b_0_0: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7: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7: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8: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8: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9: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9: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0: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10: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1: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11: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1: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11: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2: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12: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3: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13: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4: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4: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2"/>
        <p:cNvGrpSpPr/>
        <p:nvPr/>
      </p:nvGrpSpPr>
      <p:grpSpPr>
        <a:xfrm>
          <a:off x="0" y="0"/>
          <a:ext cx="0" cy="0"/>
          <a:chOff x="0" y="0"/>
          <a:chExt cx="0" cy="0"/>
        </a:xfrm>
      </p:grpSpPr>
      <p:sp>
        <p:nvSpPr>
          <p:cNvPr id="13" name="Google Shape;13;p2"/>
          <p:cNvSpPr txBox="1">
            <a:spLocks noGrp="1"/>
          </p:cNvSpPr>
          <p:nvPr>
            <p:ph type="title"/>
          </p:nvPr>
        </p:nvSpPr>
        <p:spPr>
          <a:xfrm>
            <a:off x="609480" y="274680"/>
            <a:ext cx="10972800" cy="1143000"/>
          </a:xfrm>
          <a:prstGeom prst="rect">
            <a:avLst/>
          </a:prstGeom>
          <a:noFill/>
          <a:ln>
            <a:noFill/>
          </a:ln>
        </p:spPr>
        <p:txBody>
          <a:bodyPr spcFirstLastPara="1" wrap="square" lIns="0" tIns="0" rIns="0" bIns="0" anchor="ctr" anchorCtr="1">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 name="Google Shape;15;p2"/>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 name="Google Shape;16;p2"/>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 name="Google Shape;17;p2"/>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609480" y="274680"/>
            <a:ext cx="10972800" cy="1143000"/>
          </a:xfrm>
          <a:prstGeom prst="rect">
            <a:avLst/>
          </a:prstGeom>
          <a:noFill/>
          <a:ln>
            <a:noFill/>
          </a:ln>
        </p:spPr>
        <p:txBody>
          <a:bodyPr spcFirstLastPara="1" wrap="square" lIns="0" tIns="0" rIns="0" bIns="0" anchor="ctr" anchorCtr="1">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609480" y="274680"/>
            <a:ext cx="10972800" cy="1143000"/>
          </a:xfrm>
          <a:prstGeom prst="rect">
            <a:avLst/>
          </a:prstGeom>
          <a:noFill/>
          <a:ln>
            <a:noFill/>
          </a:ln>
        </p:spPr>
        <p:txBody>
          <a:bodyPr spcFirstLastPara="1" wrap="square" lIns="0" tIns="0" rIns="0" bIns="0" anchor="ctr" anchorCtr="1">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5"/>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609480" y="274680"/>
            <a:ext cx="10972800" cy="1143000"/>
          </a:xfrm>
          <a:prstGeom prst="rect">
            <a:avLst/>
          </a:prstGeom>
          <a:noFill/>
          <a:ln>
            <a:noFill/>
          </a:ln>
        </p:spPr>
        <p:txBody>
          <a:bodyPr spcFirstLastPara="1" wrap="square" lIns="0" tIns="0" rIns="0" bIns="0" anchor="ctr" anchorCtr="1">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 name="Google Shape;28;p6"/>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609480" y="274680"/>
            <a:ext cx="10972800" cy="1143000"/>
          </a:xfrm>
          <a:prstGeom prst="rect">
            <a:avLst/>
          </a:prstGeom>
          <a:noFill/>
          <a:ln>
            <a:noFill/>
          </a:ln>
        </p:spPr>
        <p:txBody>
          <a:bodyPr spcFirstLastPara="1" wrap="square" lIns="0" tIns="0" rIns="0" bIns="0" anchor="ctr" anchorCtr="1">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31"/>
        <p:cNvGrpSpPr/>
        <p:nvPr/>
      </p:nvGrpSpPr>
      <p:grpSpPr>
        <a:xfrm>
          <a:off x="0" y="0"/>
          <a:ext cx="0" cy="0"/>
          <a:chOff x="0" y="0"/>
          <a:chExt cx="0" cy="0"/>
        </a:xfrm>
      </p:grpSpPr>
      <p:sp>
        <p:nvSpPr>
          <p:cNvPr id="32" name="Google Shape;32;p8"/>
          <p:cNvSpPr txBox="1">
            <a:spLocks noGrp="1"/>
          </p:cNvSpPr>
          <p:nvPr>
            <p:ph type="subTitle" idx="1"/>
          </p:nvPr>
        </p:nvSpPr>
        <p:spPr>
          <a:xfrm>
            <a:off x="609480" y="274680"/>
            <a:ext cx="10972800" cy="529956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33"/>
        <p:cNvGrpSpPr/>
        <p:nvPr/>
      </p:nvGrpSpPr>
      <p:grpSpPr>
        <a:xfrm>
          <a:off x="0" y="0"/>
          <a:ext cx="0" cy="0"/>
          <a:chOff x="0" y="0"/>
          <a:chExt cx="0" cy="0"/>
        </a:xfrm>
      </p:grpSpPr>
      <p:sp>
        <p:nvSpPr>
          <p:cNvPr id="34" name="Google Shape;34;p9"/>
          <p:cNvSpPr txBox="1">
            <a:spLocks noGrp="1"/>
          </p:cNvSpPr>
          <p:nvPr>
            <p:ph type="title"/>
          </p:nvPr>
        </p:nvSpPr>
        <p:spPr>
          <a:xfrm>
            <a:off x="609480" y="274680"/>
            <a:ext cx="10972800" cy="1143000"/>
          </a:xfrm>
          <a:prstGeom prst="rect">
            <a:avLst/>
          </a:prstGeom>
          <a:noFill/>
          <a:ln>
            <a:noFill/>
          </a:ln>
        </p:spPr>
        <p:txBody>
          <a:bodyPr spcFirstLastPara="1" wrap="square" lIns="0" tIns="0" rIns="0" bIns="0" anchor="ctr" anchorCtr="1">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9"/>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6" name="Google Shape;36;p9"/>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7" name="Google Shape;37;p9"/>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8"/>
        <p:cNvGrpSpPr/>
        <p:nvPr/>
      </p:nvGrpSpPr>
      <p:grpSpPr>
        <a:xfrm>
          <a:off x="0" y="0"/>
          <a:ext cx="0" cy="0"/>
          <a:chOff x="0" y="0"/>
          <a:chExt cx="0" cy="0"/>
        </a:xfrm>
      </p:grpSpPr>
      <p:sp>
        <p:nvSpPr>
          <p:cNvPr id="39" name="Google Shape;39;p10"/>
          <p:cNvSpPr txBox="1">
            <a:spLocks noGrp="1"/>
          </p:cNvSpPr>
          <p:nvPr>
            <p:ph type="title"/>
          </p:nvPr>
        </p:nvSpPr>
        <p:spPr>
          <a:xfrm>
            <a:off x="609480" y="274680"/>
            <a:ext cx="10972800" cy="1143000"/>
          </a:xfrm>
          <a:prstGeom prst="rect">
            <a:avLst/>
          </a:prstGeom>
          <a:noFill/>
          <a:ln>
            <a:noFill/>
          </a:ln>
        </p:spPr>
        <p:txBody>
          <a:bodyPr spcFirstLastPara="1" wrap="square" lIns="0" tIns="0" rIns="0" bIns="0" anchor="ctr" anchorCtr="1">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0"/>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1" name="Google Shape;41;p10"/>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2" name="Google Shape;42;p10"/>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43"/>
        <p:cNvGrpSpPr/>
        <p:nvPr/>
      </p:nvGrpSpPr>
      <p:grpSpPr>
        <a:xfrm>
          <a:off x="0" y="0"/>
          <a:ext cx="0" cy="0"/>
          <a:chOff x="0" y="0"/>
          <a:chExt cx="0" cy="0"/>
        </a:xfrm>
      </p:grpSpPr>
      <p:sp>
        <p:nvSpPr>
          <p:cNvPr id="44" name="Google Shape;44;p11"/>
          <p:cNvSpPr txBox="1">
            <a:spLocks noGrp="1"/>
          </p:cNvSpPr>
          <p:nvPr>
            <p:ph type="title"/>
          </p:nvPr>
        </p:nvSpPr>
        <p:spPr>
          <a:xfrm>
            <a:off x="609480" y="274680"/>
            <a:ext cx="10972800" cy="1143000"/>
          </a:xfrm>
          <a:prstGeom prst="rect">
            <a:avLst/>
          </a:prstGeom>
          <a:noFill/>
          <a:ln>
            <a:noFill/>
          </a:ln>
        </p:spPr>
        <p:txBody>
          <a:bodyPr spcFirstLastPara="1" wrap="square" lIns="0" tIns="0" rIns="0" bIns="0" anchor="ctr" anchorCtr="1">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6" name="Google Shape;46;p11"/>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7" name="Google Shape;47;p11"/>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8"/>
        <p:cNvGrpSpPr/>
        <p:nvPr/>
      </p:nvGrpSpPr>
      <p:grpSpPr>
        <a:xfrm>
          <a:off x="0" y="0"/>
          <a:ext cx="0" cy="0"/>
          <a:chOff x="0" y="0"/>
          <a:chExt cx="0" cy="0"/>
        </a:xfrm>
      </p:grpSpPr>
      <p:sp>
        <p:nvSpPr>
          <p:cNvPr id="49" name="Google Shape;49;p12"/>
          <p:cNvSpPr txBox="1">
            <a:spLocks noGrp="1"/>
          </p:cNvSpPr>
          <p:nvPr>
            <p:ph type="title"/>
          </p:nvPr>
        </p:nvSpPr>
        <p:spPr>
          <a:xfrm>
            <a:off x="609480" y="274680"/>
            <a:ext cx="10972800" cy="1143000"/>
          </a:xfrm>
          <a:prstGeom prst="rect">
            <a:avLst/>
          </a:prstGeom>
          <a:noFill/>
          <a:ln>
            <a:noFill/>
          </a:ln>
        </p:spPr>
        <p:txBody>
          <a:bodyPr spcFirstLastPara="1" wrap="square" lIns="0" tIns="0" rIns="0" bIns="0" anchor="ctr" anchorCtr="1">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2"/>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1" name="Google Shape;51;p12"/>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52"/>
        <p:cNvGrpSpPr/>
        <p:nvPr/>
      </p:nvGrpSpPr>
      <p:grpSpPr>
        <a:xfrm>
          <a:off x="0" y="0"/>
          <a:ext cx="0" cy="0"/>
          <a:chOff x="0" y="0"/>
          <a:chExt cx="0" cy="0"/>
        </a:xfrm>
      </p:grpSpPr>
      <p:sp>
        <p:nvSpPr>
          <p:cNvPr id="53" name="Google Shape;53;p13"/>
          <p:cNvSpPr txBox="1">
            <a:spLocks noGrp="1"/>
          </p:cNvSpPr>
          <p:nvPr>
            <p:ph type="title"/>
          </p:nvPr>
        </p:nvSpPr>
        <p:spPr>
          <a:xfrm>
            <a:off x="609480" y="274680"/>
            <a:ext cx="10972800" cy="1143000"/>
          </a:xfrm>
          <a:prstGeom prst="rect">
            <a:avLst/>
          </a:prstGeom>
          <a:noFill/>
          <a:ln>
            <a:noFill/>
          </a:ln>
        </p:spPr>
        <p:txBody>
          <a:bodyPr spcFirstLastPara="1" wrap="square" lIns="0" tIns="0" rIns="0" bIns="0" anchor="ctr" anchorCtr="1">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3"/>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5" name="Google Shape;55;p13"/>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6" name="Google Shape;56;p13"/>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7" name="Google Shape;57;p13"/>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8" name="Google Shape;58;p13"/>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9" name="Google Shape;59;p13"/>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480" y="274680"/>
            <a:ext cx="10972800" cy="1143000"/>
          </a:xfrm>
          <a:prstGeom prst="rect">
            <a:avLst/>
          </a:prstGeom>
          <a:noFill/>
          <a:ln>
            <a:noFill/>
          </a:ln>
        </p:spPr>
        <p:txBody>
          <a:bodyPr spcFirstLastPara="1" wrap="square" lIns="91425" tIns="45700" rIns="91425" bIns="45700" anchor="ctr" anchorCtr="1">
            <a:norm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 name="Google Shape;7;p1"/>
          <p:cNvSpPr txBox="1">
            <a:spLocks noGrp="1"/>
          </p:cNvSpPr>
          <p:nvPr>
            <p:ph type="title" idx="2"/>
          </p:nvPr>
        </p:nvSpPr>
        <p:spPr>
          <a:xfrm>
            <a:off x="609480" y="1600200"/>
            <a:ext cx="10972800" cy="452592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p1"/>
          <p:cNvSpPr txBox="1">
            <a:spLocks noGrp="1"/>
          </p:cNvSpPr>
          <p:nvPr>
            <p:ph type="dt" idx="10"/>
          </p:nvPr>
        </p:nvSpPr>
        <p:spPr>
          <a:xfrm>
            <a:off x="609480" y="6356520"/>
            <a:ext cx="2844720" cy="36504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9" name="Google Shape;9;p1"/>
          <p:cNvSpPr txBox="1">
            <a:spLocks noGrp="1"/>
          </p:cNvSpPr>
          <p:nvPr>
            <p:ph type="ftr" idx="11"/>
          </p:nvPr>
        </p:nvSpPr>
        <p:spPr>
          <a:xfrm>
            <a:off x="4165560" y="6356520"/>
            <a:ext cx="3860640" cy="365040"/>
          </a:xfrm>
          <a:prstGeom prst="rect">
            <a:avLst/>
          </a:prstGeom>
          <a:noFill/>
          <a:ln>
            <a:noFill/>
          </a:ln>
        </p:spPr>
        <p:txBody>
          <a:bodyPr spcFirstLastPara="1" wrap="square" lIns="91425" tIns="45700" rIns="91425" bIns="45700" anchor="ctr" anchorCtr="1">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0" name="Google Shape;10;p1"/>
          <p:cNvSpPr txBox="1">
            <a:spLocks noGrp="1"/>
          </p:cNvSpPr>
          <p:nvPr>
            <p:ph type="sldNum" idx="12"/>
          </p:nvPr>
        </p:nvSpPr>
        <p:spPr>
          <a:xfrm>
            <a:off x="8737560" y="6356520"/>
            <a:ext cx="2844720" cy="36504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 name="Google Shape;11;p1"/>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s://physionet.org/content/mimicii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63"/>
        <p:cNvGrpSpPr/>
        <p:nvPr/>
      </p:nvGrpSpPr>
      <p:grpSpPr>
        <a:xfrm>
          <a:off x="0" y="0"/>
          <a:ext cx="0" cy="0"/>
          <a:chOff x="0" y="0"/>
          <a:chExt cx="0" cy="0"/>
        </a:xfrm>
      </p:grpSpPr>
      <p:sp>
        <p:nvSpPr>
          <p:cNvPr id="64" name="Google Shape;64;p14"/>
          <p:cNvSpPr txBox="1"/>
          <p:nvPr/>
        </p:nvSpPr>
        <p:spPr>
          <a:xfrm>
            <a:off x="1645437" y="97536"/>
            <a:ext cx="8488169" cy="1143000"/>
          </a:xfrm>
          <a:prstGeom prst="rect">
            <a:avLst/>
          </a:prstGeom>
          <a:no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None/>
            </a:pPr>
            <a:r>
              <a:rPr lang="en-IN" altLang="en-GB" sz="3200"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Recognizing Coronary Artery Disease using PPG-Signals through Deep Learning</a:t>
            </a:r>
            <a:endParaRPr lang="en-IN" sz="3200" b="0" i="0" u="none" strike="noStrike" cap="none" dirty="0">
              <a:latin typeface="Arial" panose="020B0604020202020204"/>
              <a:ea typeface="Arial" panose="020B0604020202020204"/>
              <a:cs typeface="Arial" panose="020B0604020202020204"/>
              <a:sym typeface="Arial" panose="020B0604020202020204"/>
            </a:endParaRPr>
          </a:p>
        </p:txBody>
      </p:sp>
      <p:sp>
        <p:nvSpPr>
          <p:cNvPr id="65" name="Google Shape;65;p14"/>
          <p:cNvSpPr txBox="1"/>
          <p:nvPr/>
        </p:nvSpPr>
        <p:spPr>
          <a:xfrm>
            <a:off x="695160" y="4574160"/>
            <a:ext cx="11491200" cy="2286000"/>
          </a:xfrm>
          <a:prstGeom prst="rect">
            <a:avLst/>
          </a:prstGeom>
          <a:solidFill>
            <a:srgbClr val="FFFFFF"/>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None/>
            </a:pPr>
            <a:endParaRPr sz="1800" b="0" i="0" u="none" strike="noStrike" cap="none" dirty="0">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endParaRPr sz="1800" b="0" i="0" u="none" strike="noStrike" cap="none" dirty="0">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endParaRPr sz="1800" b="0" i="0" u="none" strike="noStrike" cap="none" dirty="0">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endParaRPr sz="1800" b="0" i="0" u="none" strike="noStrike" cap="none" dirty="0">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endParaRPr sz="1800" b="0" i="0" u="none" strike="noStrike" cap="none" dirty="0">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endParaRPr sz="1800" b="0" i="0" u="none" strike="noStrike" cap="none" dirty="0">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endParaRPr sz="1800" b="0" i="0" u="none" strike="noStrike" cap="none" dirty="0">
              <a:latin typeface="Arial" panose="020B0604020202020204"/>
              <a:ea typeface="Arial" panose="020B0604020202020204"/>
              <a:cs typeface="Arial" panose="020B0604020202020204"/>
              <a:sym typeface="Arial" panose="020B0604020202020204"/>
            </a:endParaRPr>
          </a:p>
          <a:p>
            <a:r>
              <a:rPr lang="en-GB" sz="24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Under the Guidance :</a:t>
            </a:r>
            <a:endParaRPr lang="en-IN" sz="2400" b="0" i="0" u="none" strike="noStrike" cap="none" dirty="0">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endParaRPr lang="en-IN" sz="2400" b="0" i="0" u="none" strike="noStrike" cap="none" dirty="0">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endParaRPr lang="en-IN" sz="2400" b="0" i="0" u="none" strike="noStrike" cap="none" dirty="0">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r>
              <a:rPr lang="en-GB" sz="24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IN" sz="24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A.Y : 2025-26</a:t>
            </a:r>
            <a:endParaRPr lang="en-IN" sz="2400" b="0" i="0" u="none" strike="noStrike" cap="none" dirty="0">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r>
              <a:rPr lang="en-GB" sz="24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Department of AIML</a:t>
            </a:r>
            <a:endParaRPr sz="2400" b="0" i="0" u="none" strike="noStrike" cap="none" dirty="0">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None/>
            </a:pPr>
            <a:r>
              <a:rPr lang="en-IN" sz="2400" b="0" i="0" u="none" strike="noStrike" cap="none" dirty="0">
                <a:latin typeface="Arial" panose="020B0604020202020204"/>
                <a:ea typeface="Arial" panose="020B0604020202020204"/>
                <a:cs typeface="Arial" panose="020B0604020202020204"/>
                <a:sym typeface="Arial" panose="020B0604020202020204"/>
              </a:rPr>
              <a:t>  </a:t>
            </a:r>
            <a:endParaRPr sz="2400" b="0" i="0" u="none" strike="noStrike" cap="none" dirty="0">
              <a:latin typeface="Arial" panose="020B0604020202020204"/>
              <a:ea typeface="Arial" panose="020B0604020202020204"/>
              <a:cs typeface="Arial" panose="020B0604020202020204"/>
              <a:sym typeface="Arial" panose="020B0604020202020204"/>
            </a:endParaRPr>
          </a:p>
        </p:txBody>
      </p:sp>
      <p:sp>
        <p:nvSpPr>
          <p:cNvPr id="66" name="Google Shape;66;p14"/>
          <p:cNvSpPr txBox="1"/>
          <p:nvPr/>
        </p:nvSpPr>
        <p:spPr>
          <a:xfrm>
            <a:off x="699480" y="1287000"/>
            <a:ext cx="11238120" cy="1261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0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Team Members:</a:t>
            </a:r>
            <a:endParaRPr sz="2000" b="0" i="0" u="none" strike="noStrike" cap="none" dirty="0">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GB" sz="20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Names          </a:t>
            </a:r>
            <a:r>
              <a:rPr lang="en-GB" sz="2000" b="1" i="0" u="none" strike="noStrike" cap="none" dirty="0" err="1">
                <a:solidFill>
                  <a:srgbClr val="000000"/>
                </a:solidFill>
                <a:latin typeface="Calibri" panose="020F0502020204030204"/>
                <a:ea typeface="Calibri" panose="020F0502020204030204"/>
                <a:cs typeface="Calibri" panose="020F0502020204030204"/>
                <a:sym typeface="Calibri" panose="020F0502020204030204"/>
              </a:rPr>
              <a:t>RollNos</a:t>
            </a:r>
            <a:endParaRPr sz="2000" b="0" i="0" u="none" strike="noStrike" cap="none" dirty="0">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2000" b="0" i="0" u="none" strike="noStrike" cap="none" dirty="0">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GB" sz="1800" b="0"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   </a:t>
            </a:r>
            <a:endParaRPr sz="1800" b="0" i="0" u="none" strike="noStrike" cap="none" dirty="0">
              <a:latin typeface="Arial" panose="020B0604020202020204"/>
              <a:ea typeface="Arial" panose="020B0604020202020204"/>
              <a:cs typeface="Arial" panose="020B0604020202020204"/>
              <a:sym typeface="Arial" panose="020B0604020202020204"/>
            </a:endParaRPr>
          </a:p>
        </p:txBody>
      </p:sp>
      <p:sp>
        <p:nvSpPr>
          <p:cNvPr id="3" name="Subtitle 2"/>
          <p:cNvSpPr txBox="1"/>
          <p:nvPr/>
        </p:nvSpPr>
        <p:spPr>
          <a:xfrm>
            <a:off x="254400" y="854545"/>
            <a:ext cx="10560223" cy="3427293"/>
          </a:xfrm>
          <a:prstGeom prst="rect">
            <a:avLst/>
          </a:prstGeom>
          <a:noFill/>
          <a:ln>
            <a:noFill/>
          </a:ln>
        </p:spPr>
        <p:txBody>
          <a:bodyPr spcFirstLastPara="1" wrap="square" lIns="0" tIns="0" rIns="0" bIns="0" anchor="t" anchorCtr="0">
            <a:normAutofit fontScale="97500"/>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nSpc>
                <a:spcPct val="120000"/>
              </a:lnSpc>
              <a:spcBef>
                <a:spcPts val="580"/>
              </a:spcBef>
              <a:buFont typeface="Wingdings 2" panose="05020102010507070707"/>
              <a:buNone/>
              <a:defRPr/>
            </a:pPr>
            <a:endParaRPr lang="en-US" sz="2400" b="1" dirty="0">
              <a:solidFill>
                <a:srgbClr val="00B050"/>
              </a:solidFill>
              <a:latin typeface="Times New Roman" panose="02020603050405020304" pitchFamily="18" charset="0"/>
              <a:ea typeface="Microsoft Sans Serif" panose="020B0604020202020204" pitchFamily="34" charset="0"/>
              <a:cs typeface="Times New Roman" panose="02020603050405020304" pitchFamily="18" charset="0"/>
            </a:endParaRPr>
          </a:p>
          <a:p>
            <a:pPr>
              <a:lnSpc>
                <a:spcPct val="120000"/>
              </a:lnSpc>
              <a:spcBef>
                <a:spcPts val="580"/>
              </a:spcBef>
              <a:buFont typeface="Wingdings 2" panose="05020102010507070707"/>
              <a:buNone/>
              <a:defRPr/>
            </a:pPr>
            <a:endParaRPr lang="en-US" sz="2300" b="1"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endParaRPr>
          </a:p>
          <a:p>
            <a:pPr>
              <a:lnSpc>
                <a:spcPct val="120000"/>
              </a:lnSpc>
              <a:spcBef>
                <a:spcPts val="580"/>
              </a:spcBef>
              <a:defRPr/>
            </a:pPr>
            <a:r>
              <a:rPr lang="en-US" sz="2400" b="1"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rPr>
              <a:t>                                                                              </a:t>
            </a:r>
          </a:p>
          <a:p>
            <a:pPr marL="0" lvl="0" indent="0"/>
            <a:r>
              <a:rPr lang="en-US" sz="2100" b="1"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rPr>
              <a:t>        </a:t>
            </a:r>
            <a:r>
              <a:rPr lang="en-GB" b="1" dirty="0">
                <a:latin typeface="Calibri" panose="020F0502020204030204" pitchFamily="34" charset="0"/>
                <a:ea typeface="Calibri" panose="020F0502020204030204" pitchFamily="34" charset="0"/>
                <a:cs typeface="Calibri" panose="020F0502020204030204" pitchFamily="34" charset="0"/>
                <a:sym typeface="Calibri"/>
              </a:rPr>
              <a:t>1. K. Venkata Rohith                22KQ1A6147</a:t>
            </a:r>
          </a:p>
          <a:p>
            <a:pPr lvl="0"/>
            <a:r>
              <a:rPr lang="en-GB" b="1" dirty="0">
                <a:latin typeface="Calibri" panose="020F0502020204030204" pitchFamily="34" charset="0"/>
                <a:ea typeface="Calibri" panose="020F0502020204030204" pitchFamily="34" charset="0"/>
                <a:cs typeface="Calibri" panose="020F0502020204030204" pitchFamily="34" charset="0"/>
                <a:sym typeface="Calibri"/>
              </a:rPr>
              <a:t>     2. G. Samuel                              22KQ1A6142</a:t>
            </a:r>
          </a:p>
          <a:p>
            <a:pPr lvl="0"/>
            <a:r>
              <a:rPr lang="en-GB" b="1" dirty="0">
                <a:latin typeface="Calibri" panose="020F0502020204030204" pitchFamily="34" charset="0"/>
                <a:ea typeface="Calibri" panose="020F0502020204030204" pitchFamily="34" charset="0"/>
                <a:cs typeface="Calibri" panose="020F0502020204030204" pitchFamily="34" charset="0"/>
                <a:sym typeface="Calibri"/>
              </a:rPr>
              <a:t>     3. A. V. Tejaswani                     22KQ1A6101</a:t>
            </a:r>
          </a:p>
          <a:p>
            <a:pPr lvl="0"/>
            <a:r>
              <a:rPr lang="en-GB" b="1" dirty="0">
                <a:latin typeface="Calibri" panose="020F0502020204030204" pitchFamily="34" charset="0"/>
                <a:ea typeface="Calibri" panose="020F0502020204030204" pitchFamily="34" charset="0"/>
                <a:cs typeface="Calibri" panose="020F0502020204030204" pitchFamily="34" charset="0"/>
              </a:rPr>
              <a:t>     4. E. Akhila</a:t>
            </a:r>
            <a:r>
              <a:rPr lang="en-GB" b="1" dirty="0">
                <a:latin typeface="Calibri" panose="020F0502020204030204" pitchFamily="34" charset="0"/>
                <a:ea typeface="Calibri" panose="020F0502020204030204" pitchFamily="34" charset="0"/>
                <a:cs typeface="Calibri" panose="020F0502020204030204" pitchFamily="34" charset="0"/>
                <a:sym typeface="Calibri"/>
              </a:rPr>
              <a:t>                                 22KQ1A6106</a:t>
            </a:r>
            <a:endParaRPr lang="en-GB" b="1" dirty="0">
              <a:latin typeface="Calibri" panose="020F0502020204030204" pitchFamily="34" charset="0"/>
              <a:ea typeface="Calibri" panose="020F0502020204030204" pitchFamily="34" charset="0"/>
              <a:cs typeface="Calibri" panose="020F0502020204030204" pitchFamily="34" charset="0"/>
            </a:endParaRPr>
          </a:p>
          <a:p>
            <a:pPr lvl="0"/>
            <a:r>
              <a:rPr lang="en-GB" b="1" dirty="0">
                <a:latin typeface="Calibri" panose="020F0502020204030204" pitchFamily="34" charset="0"/>
                <a:ea typeface="Calibri" panose="020F0502020204030204" pitchFamily="34" charset="0"/>
                <a:cs typeface="Calibri" panose="020F0502020204030204" pitchFamily="34" charset="0"/>
              </a:rPr>
              <a:t>     5. Sk. Yasmeen                 </a:t>
            </a:r>
            <a:r>
              <a:rPr lang="en-GB" b="1" dirty="0">
                <a:latin typeface="Calibri" panose="020F0502020204030204" pitchFamily="34" charset="0"/>
                <a:ea typeface="Calibri" panose="020F0502020204030204" pitchFamily="34" charset="0"/>
                <a:cs typeface="Calibri" panose="020F0502020204030204" pitchFamily="34" charset="0"/>
                <a:sym typeface="Calibri"/>
              </a:rPr>
              <a:t>         22KQ1A6125</a:t>
            </a:r>
            <a:endParaRPr lang="en-GB" b="1" dirty="0">
              <a:latin typeface="Calibri" panose="020F0502020204030204" pitchFamily="34" charset="0"/>
              <a:ea typeface="Calibri" panose="020F0502020204030204" pitchFamily="34" charset="0"/>
              <a:cs typeface="Calibri" panose="020F0502020204030204" pitchFamily="34" charset="0"/>
            </a:endParaRPr>
          </a:p>
          <a:p>
            <a:pPr algn="r">
              <a:lnSpc>
                <a:spcPct val="120000"/>
              </a:lnSpc>
              <a:spcBef>
                <a:spcPts val="580"/>
              </a:spcBef>
              <a:buFont typeface="Wingdings 2" panose="05020102010507070707"/>
              <a:buNone/>
              <a:defRPr/>
            </a:pPr>
            <a:endParaRPr lang="en-US" sz="2400" dirty="0">
              <a:solidFill>
                <a:schemeClr val="tx1"/>
              </a:solidFill>
            </a:endParaRPr>
          </a:p>
        </p:txBody>
      </p:sp>
      <p:sp>
        <p:nvSpPr>
          <p:cNvPr id="6" name="TextBox 5"/>
          <p:cNvSpPr txBox="1"/>
          <p:nvPr/>
        </p:nvSpPr>
        <p:spPr>
          <a:xfrm>
            <a:off x="3745230" y="4667088"/>
            <a:ext cx="7925660" cy="368300"/>
          </a:xfrm>
          <a:prstGeom prst="rect">
            <a:avLst/>
          </a:prstGeom>
          <a:noFill/>
        </p:spPr>
        <p:txBody>
          <a:bodyPr wrap="square" rtlCol="0">
            <a:spAutoFit/>
          </a:bodyPr>
          <a:lstStyle/>
          <a:p>
            <a:r>
              <a:rPr lang="en-GB" sz="1800" b="1" dirty="0">
                <a:ea typeface="Calibri" panose="020F0502020204030204" pitchFamily="34" charset="0"/>
                <a:cs typeface="Calibri" panose="020F0502020204030204" pitchFamily="34" charset="0"/>
              </a:rPr>
              <a:t>Dr. Raghunath Reddy (AI &amp; ML Department)</a:t>
            </a:r>
            <a:endParaRPr lang="en-IN" sz="1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70"/>
        <p:cNvGrpSpPr/>
        <p:nvPr/>
      </p:nvGrpSpPr>
      <p:grpSpPr>
        <a:xfrm>
          <a:off x="0" y="0"/>
          <a:ext cx="0" cy="0"/>
          <a:chOff x="0" y="0"/>
          <a:chExt cx="0" cy="0"/>
        </a:xfrm>
      </p:grpSpPr>
      <p:sp>
        <p:nvSpPr>
          <p:cNvPr id="71" name="Google Shape;71;p15"/>
          <p:cNvSpPr txBox="1"/>
          <p:nvPr/>
        </p:nvSpPr>
        <p:spPr>
          <a:xfrm>
            <a:off x="609480" y="274680"/>
            <a:ext cx="10972800" cy="11430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GB" sz="3600" b="1">
                <a:solidFill>
                  <a:srgbClr val="0070C0"/>
                </a:solidFill>
                <a:latin typeface="Times New Roman" panose="02020603050405020304"/>
                <a:ea typeface="Times New Roman" panose="02020603050405020304"/>
                <a:cs typeface="Times New Roman" panose="02020603050405020304"/>
                <a:sym typeface="Times New Roman" panose="02020603050405020304"/>
              </a:rPr>
              <a:t>Outline</a:t>
            </a:r>
            <a:endParaRPr sz="4400" b="0" i="0" u="none" strike="noStrike" cap="none">
              <a:latin typeface="Arial" panose="020B0604020202020204"/>
              <a:ea typeface="Arial" panose="020B0604020202020204"/>
              <a:cs typeface="Arial" panose="020B0604020202020204"/>
              <a:sym typeface="Arial" panose="020B0604020202020204"/>
            </a:endParaRPr>
          </a:p>
        </p:txBody>
      </p:sp>
      <p:sp>
        <p:nvSpPr>
          <p:cNvPr id="72" name="Google Shape;72;p15"/>
          <p:cNvSpPr txBox="1"/>
          <p:nvPr/>
        </p:nvSpPr>
        <p:spPr>
          <a:xfrm>
            <a:off x="936055" y="1417665"/>
            <a:ext cx="10985700" cy="48489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0000"/>
              </a:buClr>
              <a:buSzPts val="2800"/>
              <a:buFont typeface="Noto Sans Symbols"/>
              <a:buChar char="⮚"/>
            </a:pPr>
            <a:r>
              <a:rPr lang="en-GB" sz="2800" b="0" i="0" u="none" strike="noStrike" cap="none">
                <a:solidFill>
                  <a:srgbClr val="000000"/>
                </a:solidFill>
                <a:latin typeface="Arial" panose="020B0604020202020204"/>
                <a:ea typeface="Arial" panose="020B0604020202020204"/>
                <a:cs typeface="Arial" panose="020B0604020202020204"/>
                <a:sym typeface="Arial" panose="020B0604020202020204"/>
              </a:rPr>
              <a:t>Abstract</a:t>
            </a:r>
            <a:endParaRPr sz="2800" b="0" i="0" u="none" strike="noStrike" cap="none">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700"/>
              </a:spcBef>
              <a:spcAft>
                <a:spcPts val="0"/>
              </a:spcAft>
              <a:buClr>
                <a:srgbClr val="000000"/>
              </a:buClr>
              <a:buSzPts val="2800"/>
              <a:buFont typeface="Noto Sans Symbols"/>
              <a:buChar char="⮚"/>
            </a:pPr>
            <a:r>
              <a:rPr lang="en-GB" sz="2800" b="0" i="0" u="none" strike="noStrike" cap="none">
                <a:solidFill>
                  <a:srgbClr val="000000"/>
                </a:solidFill>
                <a:latin typeface="Arial" panose="020B0604020202020204"/>
                <a:ea typeface="Arial" panose="020B0604020202020204"/>
                <a:cs typeface="Arial" panose="020B0604020202020204"/>
                <a:sym typeface="Arial" panose="020B0604020202020204"/>
              </a:rPr>
              <a:t>Introduction</a:t>
            </a:r>
            <a:endParaRPr sz="2800" b="0" i="0" u="none" strike="noStrike" cap="none">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700"/>
              </a:spcBef>
              <a:spcAft>
                <a:spcPts val="0"/>
              </a:spcAft>
              <a:buClr>
                <a:srgbClr val="000000"/>
              </a:buClr>
              <a:buSzPts val="2800"/>
              <a:buFont typeface="Noto Sans Symbols"/>
              <a:buChar char="⮚"/>
            </a:pPr>
            <a:r>
              <a:rPr lang="en-GB" sz="2800" b="0" i="0" u="none" strike="noStrike" cap="none">
                <a:solidFill>
                  <a:srgbClr val="000000"/>
                </a:solidFill>
                <a:latin typeface="Arial" panose="020B0604020202020204"/>
                <a:ea typeface="Arial" panose="020B0604020202020204"/>
                <a:cs typeface="Arial" panose="020B0604020202020204"/>
                <a:sym typeface="Arial" panose="020B0604020202020204"/>
              </a:rPr>
              <a:t>Literature Review</a:t>
            </a:r>
            <a:endParaRPr sz="2800" b="0" i="0" u="none" strike="noStrike" cap="none">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800"/>
              </a:spcBef>
              <a:spcAft>
                <a:spcPts val="0"/>
              </a:spcAft>
              <a:buClr>
                <a:srgbClr val="000000"/>
              </a:buClr>
              <a:buSzPts val="2800"/>
              <a:buFont typeface="Noto Sans Symbols"/>
              <a:buChar char="⮚"/>
            </a:pPr>
            <a:r>
              <a:rPr lang="en-GB" sz="2800" b="0" i="0" u="none" strike="noStrike" cap="none">
                <a:solidFill>
                  <a:srgbClr val="000000"/>
                </a:solidFill>
                <a:latin typeface="Arial" panose="020B0604020202020204"/>
                <a:ea typeface="Arial" panose="020B0604020202020204"/>
                <a:cs typeface="Arial" panose="020B0604020202020204"/>
                <a:sym typeface="Arial" panose="020B0604020202020204"/>
              </a:rPr>
              <a:t>Problem Statement</a:t>
            </a:r>
            <a:endParaRPr sz="2800" b="0" i="0" u="none" strike="noStrike" cap="none">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700"/>
              </a:spcBef>
              <a:spcAft>
                <a:spcPts val="0"/>
              </a:spcAft>
              <a:buClr>
                <a:srgbClr val="000000"/>
              </a:buClr>
              <a:buSzPts val="2800"/>
              <a:buFont typeface="Noto Sans Symbols"/>
              <a:buChar char="⮚"/>
            </a:pPr>
            <a:r>
              <a:rPr lang="en-GB" sz="2800" b="0" i="0" u="none" strike="noStrike" cap="none">
                <a:solidFill>
                  <a:srgbClr val="000000"/>
                </a:solidFill>
                <a:latin typeface="Arial" panose="020B0604020202020204"/>
                <a:ea typeface="Arial" panose="020B0604020202020204"/>
                <a:cs typeface="Arial" panose="020B0604020202020204"/>
                <a:sym typeface="Arial" panose="020B0604020202020204"/>
              </a:rPr>
              <a:t>Objectives</a:t>
            </a:r>
            <a:endParaRPr sz="2800" b="0" i="0" u="none" strike="noStrike" cap="none">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700"/>
              </a:spcBef>
              <a:spcAft>
                <a:spcPts val="0"/>
              </a:spcAft>
              <a:buClr>
                <a:srgbClr val="000000"/>
              </a:buClr>
              <a:buSzPts val="2800"/>
              <a:buFont typeface="Noto Sans Symbols"/>
              <a:buChar char="⮚"/>
            </a:pPr>
            <a:r>
              <a:rPr lang="en-GB" sz="2800" b="0" i="0" u="none" strike="noStrike" cap="none">
                <a:solidFill>
                  <a:srgbClr val="000000"/>
                </a:solidFill>
                <a:latin typeface="Arial" panose="020B0604020202020204"/>
                <a:ea typeface="Arial" panose="020B0604020202020204"/>
                <a:cs typeface="Arial" panose="020B0604020202020204"/>
                <a:sym typeface="Arial" panose="020B0604020202020204"/>
              </a:rPr>
              <a:t>Proposed methodology</a:t>
            </a:r>
            <a:endParaRPr sz="2800" b="0" i="0" u="none" strike="noStrike" cap="none">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700"/>
              </a:spcBef>
              <a:spcAft>
                <a:spcPts val="0"/>
              </a:spcAft>
              <a:buClr>
                <a:srgbClr val="000000"/>
              </a:buClr>
              <a:buSzPts val="2800"/>
              <a:buFont typeface="Noto Sans Symbols"/>
              <a:buChar char="⮚"/>
            </a:pPr>
            <a:r>
              <a:rPr lang="en-GB" sz="2800" b="0" i="0" u="none" strike="noStrike" cap="none">
                <a:solidFill>
                  <a:srgbClr val="000000"/>
                </a:solidFill>
                <a:latin typeface="Arial" panose="020B0604020202020204"/>
                <a:ea typeface="Arial" panose="020B0604020202020204"/>
                <a:cs typeface="Arial" panose="020B0604020202020204"/>
                <a:sym typeface="Arial" panose="020B0604020202020204"/>
              </a:rPr>
              <a:t>Hardware &amp; Software Requirements</a:t>
            </a:r>
            <a:endParaRPr sz="2800" b="0" i="0" u="none" strike="noStrike" cap="none">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700"/>
              </a:spcBef>
              <a:spcAft>
                <a:spcPts val="0"/>
              </a:spcAft>
              <a:buClr>
                <a:srgbClr val="000000"/>
              </a:buClr>
              <a:buSzPts val="2800"/>
              <a:buFont typeface="Noto Sans Symbols"/>
              <a:buChar char="⮚"/>
            </a:pPr>
            <a:r>
              <a:rPr lang="en-GB" sz="2800" b="0" i="0" u="none" strike="noStrike" cap="none">
                <a:solidFill>
                  <a:srgbClr val="000000"/>
                </a:solidFill>
                <a:latin typeface="Arial" panose="020B0604020202020204"/>
                <a:ea typeface="Arial" panose="020B0604020202020204"/>
                <a:cs typeface="Arial" panose="020B0604020202020204"/>
                <a:sym typeface="Arial" panose="020B0604020202020204"/>
              </a:rPr>
              <a:t>References</a:t>
            </a:r>
            <a:r>
              <a:rPr lang="en-GB" sz="3200" b="0" i="0" u="none" strike="noStrike" cap="none">
                <a:solidFill>
                  <a:srgbClr val="000000"/>
                </a:solidFill>
                <a:latin typeface="Calibri" panose="020F0502020204030204"/>
                <a:ea typeface="Calibri" panose="020F0502020204030204"/>
                <a:cs typeface="Calibri" panose="020F0502020204030204"/>
                <a:sym typeface="Calibri" panose="020F0502020204030204"/>
              </a:rPr>
              <a:t> </a:t>
            </a:r>
            <a:endParaRPr sz="3200" b="0" i="0" u="none" strike="noStrike" cap="none">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76"/>
        <p:cNvGrpSpPr/>
        <p:nvPr/>
      </p:nvGrpSpPr>
      <p:grpSpPr>
        <a:xfrm>
          <a:off x="0" y="0"/>
          <a:ext cx="0" cy="0"/>
          <a:chOff x="0" y="0"/>
          <a:chExt cx="0" cy="0"/>
        </a:xfrm>
      </p:grpSpPr>
      <p:sp>
        <p:nvSpPr>
          <p:cNvPr id="77" name="Google Shape;77;p16"/>
          <p:cNvSpPr txBox="1"/>
          <p:nvPr/>
        </p:nvSpPr>
        <p:spPr>
          <a:xfrm>
            <a:off x="521109" y="184666"/>
            <a:ext cx="10972800" cy="11430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GB" sz="3600" b="1">
                <a:solidFill>
                  <a:srgbClr val="0070C0"/>
                </a:solidFill>
                <a:latin typeface="Times New Roman" panose="02020603050405020304"/>
                <a:ea typeface="Times New Roman" panose="02020603050405020304"/>
                <a:cs typeface="Times New Roman" panose="02020603050405020304"/>
                <a:sym typeface="Times New Roman" panose="02020603050405020304"/>
              </a:rPr>
              <a:t>Abstract</a:t>
            </a:r>
            <a:endParaRPr sz="4400" b="0" i="0" u="none" strike="noStrike" cap="none">
              <a:latin typeface="Arial" panose="020B0604020202020204"/>
              <a:ea typeface="Arial" panose="020B0604020202020204"/>
              <a:cs typeface="Arial" panose="020B0604020202020204"/>
              <a:sym typeface="Arial" panose="020B0604020202020204"/>
            </a:endParaRPr>
          </a:p>
        </p:txBody>
      </p:sp>
      <p:sp>
        <p:nvSpPr>
          <p:cNvPr id="4" name="Rectangle 2">
            <a:extLst>
              <a:ext uri="{FF2B5EF4-FFF2-40B4-BE49-F238E27FC236}">
                <a16:creationId xmlns:a16="http://schemas.microsoft.com/office/drawing/2014/main" id="{DC575F40-567D-9FB1-1AC6-C3FE678B7E4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6">
            <a:extLst>
              <a:ext uri="{FF2B5EF4-FFF2-40B4-BE49-F238E27FC236}">
                <a16:creationId xmlns:a16="http://schemas.microsoft.com/office/drawing/2014/main" id="{7B93DC4C-1B86-D5EB-F2ED-BEDACBE67B78}"/>
              </a:ext>
            </a:extLst>
          </p:cNvPr>
          <p:cNvSpPr>
            <a:spLocks noChangeArrowheads="1"/>
          </p:cNvSpPr>
          <p:nvPr/>
        </p:nvSpPr>
        <p:spPr bwMode="auto">
          <a:xfrm>
            <a:off x="1140545" y="1491367"/>
            <a:ext cx="10530346" cy="4992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200000"/>
              </a:lnSpc>
              <a:spcBef>
                <a:spcPct val="0"/>
              </a:spcBef>
              <a:spcAft>
                <a:spcPct val="0"/>
              </a:spcAft>
              <a:buClrTx/>
            </a:pPr>
            <a:r>
              <a:rPr lang="en-US" sz="1800" dirty="0"/>
              <a:t>Coronary Artery Disease (CAD) is a leading cause of cardiovascular mortality, making early detection critically important. Traditional diagnostic methods are invasive, expensive, and unsuitable for continuous monitoring. Photoplethysmography (PPG) provides a non-invasive and wearable-friendly alternative for cardiovascular assessment. In this work, a hybrid deep learning framework combining Convolutional Neural Networks (CNN) and Bidirectional Long Short-Term Memory (</a:t>
            </a:r>
            <a:r>
              <a:rPr lang="en-US" sz="1800" dirty="0" err="1"/>
              <a:t>BiLSTM</a:t>
            </a:r>
            <a:r>
              <a:rPr lang="en-US" sz="1800" dirty="0"/>
              <a:t>) networks is proposed to analyze segmented PPG signals. An attention mechanism is employed to highlight diagnostically relevant signal segments. Experimental results demonstrate that the proposed approach achieves high sensitivity and strong ROC-AUC, indicating its potential for effective non-invasive CAD screening.</a:t>
            </a:r>
            <a:endParaRPr lang="en-US" altLang="en-US" sz="1800" dirty="0">
              <a:solidFill>
                <a:schemeClr val="tx1"/>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2"/>
        <p:cNvGrpSpPr/>
        <p:nvPr/>
      </p:nvGrpSpPr>
      <p:grpSpPr>
        <a:xfrm>
          <a:off x="0" y="0"/>
          <a:ext cx="0" cy="0"/>
          <a:chOff x="0" y="0"/>
          <a:chExt cx="0" cy="0"/>
        </a:xfrm>
      </p:grpSpPr>
      <p:sp>
        <p:nvSpPr>
          <p:cNvPr id="83" name="Google Shape;83;p17"/>
          <p:cNvSpPr txBox="1"/>
          <p:nvPr/>
        </p:nvSpPr>
        <p:spPr>
          <a:xfrm>
            <a:off x="609480" y="274680"/>
            <a:ext cx="10972800" cy="11430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GB" sz="3600" b="1">
                <a:solidFill>
                  <a:srgbClr val="0070C0"/>
                </a:solidFill>
                <a:latin typeface="Times New Roman" panose="02020603050405020304"/>
                <a:ea typeface="Times New Roman" panose="02020603050405020304"/>
                <a:cs typeface="Times New Roman" panose="02020603050405020304"/>
                <a:sym typeface="Times New Roman" panose="02020603050405020304"/>
              </a:rPr>
              <a:t>Introduction</a:t>
            </a:r>
            <a:endParaRPr sz="4400" b="0" strike="noStrike">
              <a:latin typeface="Arial" panose="020B0604020202020204"/>
              <a:ea typeface="Arial" panose="020B0604020202020204"/>
              <a:cs typeface="Arial" panose="020B0604020202020204"/>
              <a:sym typeface="Arial" panose="020B0604020202020204"/>
            </a:endParaRPr>
          </a:p>
        </p:txBody>
      </p:sp>
      <p:sp>
        <p:nvSpPr>
          <p:cNvPr id="2" name="Content Placeholder 2"/>
          <p:cNvSpPr txBox="1"/>
          <p:nvPr/>
        </p:nvSpPr>
        <p:spPr>
          <a:xfrm>
            <a:off x="1219200" y="1012722"/>
            <a:ext cx="10363200" cy="5211097"/>
          </a:xfrm>
          <a:prstGeom prst="rect">
            <a:avLst/>
          </a:prstGeom>
          <a:noFill/>
          <a:ln>
            <a:noFill/>
          </a:ln>
        </p:spPr>
        <p:txBody>
          <a:bodyPr spcFirstLastPara="1" vert="horz" wrap="square" lIns="91440" tIns="45720" rIns="91440" bIns="45720" numCol="1" anchor="t" anchorCtr="0" compatLnSpc="1">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just">
              <a:lnSpc>
                <a:spcPct val="150000"/>
              </a:lnSpc>
              <a:spcBef>
                <a:spcPts val="580"/>
              </a:spcBef>
              <a:buFont typeface="Wingdings" panose="05000000000000000000" pitchFamily="2" charset="2"/>
              <a:buChar char="Ø"/>
              <a:defRPr/>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b="1" dirty="0"/>
              <a:t>Problem Domain: Healthcare Artificial Intelligence</a:t>
            </a:r>
            <a:endParaRPr lang="en-US" sz="2000" dirty="0"/>
          </a:p>
          <a:p>
            <a:pPr marL="571500" indent="-342900">
              <a:lnSpc>
                <a:spcPct val="150000"/>
              </a:lnSpc>
              <a:buFont typeface="Arial" panose="020B0604020202020204" pitchFamily="34" charset="0"/>
              <a:buChar char="•"/>
            </a:pPr>
            <a:r>
              <a:rPr lang="en-US" sz="2000" dirty="0"/>
              <a:t>CAD affects blood flow to the heart.</a:t>
            </a:r>
          </a:p>
          <a:p>
            <a:pPr marL="571500" indent="-342900">
              <a:lnSpc>
                <a:spcPct val="150000"/>
              </a:lnSpc>
              <a:buFont typeface="Arial" panose="020B0604020202020204" pitchFamily="34" charset="0"/>
              <a:buChar char="•"/>
            </a:pPr>
            <a:r>
              <a:rPr lang="en-US" sz="2000" dirty="0"/>
              <a:t>Delayed diagnosis increases risk of heart attacks.</a:t>
            </a:r>
          </a:p>
          <a:p>
            <a:pPr marL="571500" indent="-342900">
              <a:lnSpc>
                <a:spcPct val="150000"/>
              </a:lnSpc>
              <a:buFont typeface="Arial" panose="020B0604020202020204" pitchFamily="34" charset="0"/>
              <a:buChar char="•"/>
            </a:pPr>
            <a:r>
              <a:rPr lang="en-US" sz="2000" dirty="0"/>
              <a:t>AI helps in early disease detection.</a:t>
            </a:r>
          </a:p>
          <a:p>
            <a:pPr marL="571500" indent="-342900">
              <a:lnSpc>
                <a:spcPct val="150000"/>
              </a:lnSpc>
              <a:buFont typeface="Arial" panose="020B0604020202020204" pitchFamily="34" charset="0"/>
              <a:buChar char="•"/>
            </a:pPr>
            <a:r>
              <a:rPr lang="en-US" sz="2000" dirty="0"/>
              <a:t>Wearable sensors generate large PPG data.</a:t>
            </a:r>
          </a:p>
          <a:p>
            <a:pPr>
              <a:lnSpc>
                <a:spcPct val="150000"/>
              </a:lnSpc>
            </a:pPr>
            <a:r>
              <a:rPr lang="en-US" sz="2000" b="1" dirty="0"/>
              <a:t>Why this domain is important</a:t>
            </a:r>
            <a:endParaRPr lang="en-US" sz="2000" dirty="0"/>
          </a:p>
          <a:p>
            <a:pPr marL="571500" indent="-342900">
              <a:lnSpc>
                <a:spcPct val="150000"/>
              </a:lnSpc>
              <a:buFont typeface="Arial" panose="020B0604020202020204" pitchFamily="34" charset="0"/>
              <a:buChar char="•"/>
            </a:pPr>
            <a:r>
              <a:rPr lang="en-US" sz="2000" dirty="0"/>
              <a:t>CAD is a leading cause of death worldwide.</a:t>
            </a:r>
          </a:p>
          <a:p>
            <a:pPr marL="571500" indent="-342900">
              <a:lnSpc>
                <a:spcPct val="150000"/>
              </a:lnSpc>
              <a:buFont typeface="Arial" panose="020B0604020202020204" pitchFamily="34" charset="0"/>
              <a:buChar char="•"/>
            </a:pPr>
            <a:r>
              <a:rPr lang="en-US" sz="2000" dirty="0"/>
              <a:t>Many patients do not show early symptoms.</a:t>
            </a:r>
          </a:p>
          <a:p>
            <a:pPr marL="571500" indent="-342900">
              <a:lnSpc>
                <a:spcPct val="150000"/>
              </a:lnSpc>
              <a:buFont typeface="Arial" panose="020B0604020202020204" pitchFamily="34" charset="0"/>
              <a:buChar char="•"/>
            </a:pPr>
            <a:r>
              <a:rPr lang="en-US" sz="2000" dirty="0"/>
              <a:t>PPG sensors are available in smartwatches.</a:t>
            </a:r>
          </a:p>
          <a:p>
            <a:pPr marL="571500" indent="-342900">
              <a:lnSpc>
                <a:spcPct val="150000"/>
              </a:lnSpc>
              <a:buFont typeface="Arial" panose="020B0604020202020204" pitchFamily="34" charset="0"/>
              <a:buChar char="•"/>
            </a:pPr>
            <a:r>
              <a:rPr lang="en-US" sz="2000" dirty="0"/>
              <a:t>Deep Learning improves disease prediction accuracy</a:t>
            </a:r>
          </a:p>
          <a:p>
            <a:pPr marL="571500" indent="-342900">
              <a:lnSpc>
                <a:spcPct val="150000"/>
              </a:lnSpc>
              <a:buFont typeface="Arial" panose="020B0604020202020204" pitchFamily="34" charset="0"/>
              <a:buChar char="•"/>
            </a:pPr>
            <a:endParaRPr lang="en-US" sz="2000" dirty="0"/>
          </a:p>
          <a:p>
            <a:pPr marL="285750" indent="-285750" algn="just">
              <a:lnSpc>
                <a:spcPct val="150000"/>
              </a:lnSpc>
              <a:spcBef>
                <a:spcPts val="580"/>
              </a:spcBef>
              <a:buClr>
                <a:schemeClr val="accent1"/>
              </a:buClr>
              <a:buSzPct val="85000"/>
              <a:buFont typeface="Arial" panose="020B0604020202020204" pitchFamily="34" charset="0"/>
              <a:buChar char="•"/>
              <a:defRPr/>
            </a:pPr>
            <a:endParaRPr lang="en-US" altLang="en-US" sz="20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8"/>
        <p:cNvGrpSpPr/>
        <p:nvPr/>
      </p:nvGrpSpPr>
      <p:grpSpPr>
        <a:xfrm>
          <a:off x="0" y="0"/>
          <a:ext cx="0" cy="0"/>
          <a:chOff x="0" y="0"/>
          <a:chExt cx="0" cy="0"/>
        </a:xfrm>
      </p:grpSpPr>
      <p:sp>
        <p:nvSpPr>
          <p:cNvPr id="89" name="Google Shape;89;p18"/>
          <p:cNvSpPr txBox="1"/>
          <p:nvPr/>
        </p:nvSpPr>
        <p:spPr>
          <a:xfrm>
            <a:off x="609480" y="274680"/>
            <a:ext cx="10972800" cy="11430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GB" sz="3600" b="1">
                <a:solidFill>
                  <a:srgbClr val="0070C0"/>
                </a:solidFill>
                <a:latin typeface="Times New Roman" panose="02020603050405020304"/>
                <a:ea typeface="Times New Roman" panose="02020603050405020304"/>
                <a:cs typeface="Times New Roman" panose="02020603050405020304"/>
                <a:sym typeface="Times New Roman" panose="02020603050405020304"/>
              </a:rPr>
              <a:t>Literature Review</a:t>
            </a:r>
            <a:endParaRPr sz="4400" b="0" strike="noStrike">
              <a:latin typeface="Arial" panose="020B0604020202020204"/>
              <a:ea typeface="Arial" panose="020B0604020202020204"/>
              <a:cs typeface="Arial" panose="020B0604020202020204"/>
              <a:sym typeface="Arial" panose="020B0604020202020204"/>
            </a:endParaRPr>
          </a:p>
        </p:txBody>
      </p:sp>
      <p:graphicFrame>
        <p:nvGraphicFramePr>
          <p:cNvPr id="90" name="Google Shape;90;p18"/>
          <p:cNvGraphicFramePr/>
          <p:nvPr>
            <p:extLst>
              <p:ext uri="{D42A27DB-BD31-4B8C-83A1-F6EECF244321}">
                <p14:modId xmlns:p14="http://schemas.microsoft.com/office/powerpoint/2010/main" val="3407896793"/>
              </p:ext>
            </p:extLst>
          </p:nvPr>
        </p:nvGraphicFramePr>
        <p:xfrm>
          <a:off x="772272" y="1575413"/>
          <a:ext cx="11275349" cy="6315977"/>
        </p:xfrm>
        <a:graphic>
          <a:graphicData uri="http://schemas.openxmlformats.org/drawingml/2006/table">
            <a:tbl>
              <a:tblPr>
                <a:noFill/>
                <a:tableStyleId>{7D097AAA-96DC-4D88-958D-D62B003D6693}</a:tableStyleId>
              </a:tblPr>
              <a:tblGrid>
                <a:gridCol w="956625">
                  <a:extLst>
                    <a:ext uri="{9D8B030D-6E8A-4147-A177-3AD203B41FA5}">
                      <a16:colId xmlns:a16="http://schemas.microsoft.com/office/drawing/2014/main" val="20000"/>
                    </a:ext>
                  </a:extLst>
                </a:gridCol>
                <a:gridCol w="1581375">
                  <a:extLst>
                    <a:ext uri="{9D8B030D-6E8A-4147-A177-3AD203B41FA5}">
                      <a16:colId xmlns:a16="http://schemas.microsoft.com/office/drawing/2014/main" val="20001"/>
                    </a:ext>
                  </a:extLst>
                </a:gridCol>
                <a:gridCol w="1782350">
                  <a:extLst>
                    <a:ext uri="{9D8B030D-6E8A-4147-A177-3AD203B41FA5}">
                      <a16:colId xmlns:a16="http://schemas.microsoft.com/office/drawing/2014/main" val="20002"/>
                    </a:ext>
                  </a:extLst>
                </a:gridCol>
                <a:gridCol w="1642315">
                  <a:extLst>
                    <a:ext uri="{9D8B030D-6E8A-4147-A177-3AD203B41FA5}">
                      <a16:colId xmlns:a16="http://schemas.microsoft.com/office/drawing/2014/main" val="20003"/>
                    </a:ext>
                  </a:extLst>
                </a:gridCol>
                <a:gridCol w="1875235">
                  <a:extLst>
                    <a:ext uri="{9D8B030D-6E8A-4147-A177-3AD203B41FA5}">
                      <a16:colId xmlns:a16="http://schemas.microsoft.com/office/drawing/2014/main" val="20004"/>
                    </a:ext>
                  </a:extLst>
                </a:gridCol>
                <a:gridCol w="1567450">
                  <a:extLst>
                    <a:ext uri="{9D8B030D-6E8A-4147-A177-3AD203B41FA5}">
                      <a16:colId xmlns:a16="http://schemas.microsoft.com/office/drawing/2014/main" val="20005"/>
                    </a:ext>
                  </a:extLst>
                </a:gridCol>
                <a:gridCol w="1869999">
                  <a:extLst>
                    <a:ext uri="{9D8B030D-6E8A-4147-A177-3AD203B41FA5}">
                      <a16:colId xmlns:a16="http://schemas.microsoft.com/office/drawing/2014/main" val="20006"/>
                    </a:ext>
                  </a:extLst>
                </a:gridCol>
              </a:tblGrid>
              <a:tr h="787325">
                <a:tc>
                  <a:txBody>
                    <a:bodyPr/>
                    <a:lstStyle/>
                    <a:p>
                      <a:pPr marL="0" marR="0" lvl="0" indent="0" algn="l" rtl="0">
                        <a:lnSpc>
                          <a:spcPct val="100000"/>
                        </a:lnSpc>
                        <a:spcBef>
                          <a:spcPts val="0"/>
                        </a:spcBef>
                        <a:spcAft>
                          <a:spcPts val="0"/>
                        </a:spcAft>
                        <a:buNone/>
                      </a:pPr>
                      <a:r>
                        <a:rPr lang="en-GB" sz="2100" b="1" dirty="0" err="1">
                          <a:solidFill>
                            <a:schemeClr val="dk1"/>
                          </a:solidFill>
                        </a:rPr>
                        <a:t>S.No</a:t>
                      </a:r>
                      <a:r>
                        <a:rPr lang="en-GB" sz="2100" b="1" dirty="0">
                          <a:solidFill>
                            <a:schemeClr val="dk1"/>
                          </a:solidFill>
                        </a:rPr>
                        <a:t>.</a:t>
                      </a:r>
                      <a:endParaRPr sz="2100" b="1" dirty="0">
                        <a:solidFill>
                          <a:schemeClr val="dk1"/>
                        </a:solidFill>
                      </a:endParaRP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GB" sz="2100" b="1" dirty="0">
                          <a:solidFill>
                            <a:schemeClr val="dk1"/>
                          </a:solidFill>
                        </a:rPr>
                        <a:t>Author &amp; Year</a:t>
                      </a:r>
                      <a:endParaRPr sz="2100" b="1" dirty="0">
                        <a:solidFill>
                          <a:schemeClr val="dk1"/>
                        </a:solidFill>
                      </a:endParaRP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GB" sz="2100" b="1">
                          <a:solidFill>
                            <a:schemeClr val="dk1"/>
                          </a:solidFill>
                        </a:rPr>
                        <a:t>Title</a:t>
                      </a:r>
                      <a:endParaRPr sz="2100" b="1">
                        <a:solidFill>
                          <a:schemeClr val="dk1"/>
                        </a:solidFill>
                      </a:endParaRP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GB" sz="2100" b="1">
                          <a:solidFill>
                            <a:schemeClr val="dk1"/>
                          </a:solidFill>
                        </a:rPr>
                        <a:t>Objectives</a:t>
                      </a:r>
                      <a:endParaRPr sz="2100" b="1">
                        <a:solidFill>
                          <a:schemeClr val="dk1"/>
                        </a:solidFill>
                      </a:endParaRP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GB" sz="2100" b="1">
                          <a:solidFill>
                            <a:schemeClr val="dk1"/>
                          </a:solidFill>
                        </a:rPr>
                        <a:t>Methodology</a:t>
                      </a:r>
                      <a:endParaRPr sz="2100" b="1">
                        <a:solidFill>
                          <a:schemeClr val="dk1"/>
                        </a:solidFill>
                      </a:endParaRP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GB" sz="2100" b="1">
                          <a:solidFill>
                            <a:schemeClr val="dk1"/>
                          </a:solidFill>
                        </a:rPr>
                        <a:t>Findings</a:t>
                      </a:r>
                      <a:endParaRPr sz="2100" b="1">
                        <a:solidFill>
                          <a:schemeClr val="dk1"/>
                        </a:solidFill>
                      </a:endParaRP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GB" sz="2100" b="1">
                          <a:solidFill>
                            <a:schemeClr val="dk1"/>
                          </a:solidFill>
                        </a:rPr>
                        <a:t>Limitations</a:t>
                      </a:r>
                      <a:endParaRPr sz="2100" b="1">
                        <a:solidFill>
                          <a:schemeClr val="dk1"/>
                        </a:solidFill>
                      </a:endParaRP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053000">
                <a:tc>
                  <a:txBody>
                    <a:bodyPr/>
                    <a:lstStyle/>
                    <a:p>
                      <a:pPr marL="0" marR="0" lvl="0" indent="0" algn="l" rtl="0">
                        <a:spcBef>
                          <a:spcPts val="0"/>
                        </a:spcBef>
                        <a:spcAft>
                          <a:spcPts val="0"/>
                        </a:spcAft>
                        <a:buNone/>
                      </a:pPr>
                      <a:r>
                        <a:rPr lang="en-GB" sz="2400" b="0" strike="noStrike">
                          <a:latin typeface="Times New Roman" panose="02020603050405020304"/>
                          <a:ea typeface="Times New Roman" panose="02020603050405020304"/>
                          <a:cs typeface="Times New Roman" panose="02020603050405020304"/>
                          <a:sym typeface="Times New Roman" panose="02020603050405020304"/>
                        </a:rPr>
                        <a:t>1</a:t>
                      </a:r>
                      <a:endParaRPr sz="2400" b="0" strike="noStrik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it-IT" dirty="0"/>
                        <a:t>Ye Li et al., 2025</a:t>
                      </a:r>
                      <a:endParaRPr lang="en-US" alt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dirty="0"/>
                        <a:t>Prediction of Cardiovascular Disease Events From the PPG Waveform</a:t>
                      </a:r>
                      <a:endParaRPr lang="en-US" alt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dirty="0"/>
                        <a:t>To evaluate whether PPG waveform features can predict cardiovascular disease events</a:t>
                      </a:r>
                      <a:endParaRPr lang="en-US" alt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dirty="0"/>
                        <a:t>PPG signals from the UK Biobank were analyzed using handcrafted feature extraction and statistical survival models.</a:t>
                      </a:r>
                    </a:p>
                  </a:txBody>
                  <a:tcPr marL="51606" marR="51606" marT="25803" marB="25803"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algn="l"/>
                      <a:r>
                        <a:rPr lang="en-US" dirty="0"/>
                        <a:t>PPG systolic features showed strong association with cardiovascular events and improved risk prediction</a:t>
                      </a:r>
                      <a:r>
                        <a:rPr lang="en-US" altLang="en-US" sz="1400" dirty="0">
                          <a:latin typeface="Times New Roman" panose="02020603050405020304" pitchFamily="18" charset="0"/>
                          <a:cs typeface="Times New Roman" panose="02020603050405020304" pitchFamily="18" charset="0"/>
                        </a:rPr>
                        <a:t>.</a:t>
                      </a:r>
                    </a:p>
                  </a:txBody>
                  <a:tcPr marL="51606" marR="51606" marT="25803" marB="25803"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dirty="0"/>
                        <a:t>Uses handcrafted features and statistical models; no deep learning–based end-to-end classification.</a:t>
                      </a:r>
                      <a:endParaRPr lang="en-US" alt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1498325">
                <a:tc>
                  <a:txBody>
                    <a:bodyPr/>
                    <a:lstStyle/>
                    <a:p>
                      <a:pPr marL="0" marR="0" lvl="0" indent="0" algn="l" rtl="0">
                        <a:spcBef>
                          <a:spcPts val="0"/>
                        </a:spcBef>
                        <a:spcAft>
                          <a:spcPts val="0"/>
                        </a:spcAft>
                        <a:buNone/>
                      </a:pPr>
                      <a:r>
                        <a:rPr lang="en-GB" sz="2400" b="0" strike="noStrike">
                          <a:latin typeface="Times New Roman" panose="02020603050405020304"/>
                          <a:ea typeface="Times New Roman" panose="02020603050405020304"/>
                          <a:cs typeface="Times New Roman" panose="02020603050405020304"/>
                          <a:sym typeface="Times New Roman" panose="02020603050405020304"/>
                        </a:rPr>
                        <a:t>2</a:t>
                      </a:r>
                      <a:endParaRPr sz="2400" b="0" strike="noStrik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IN" dirty="0" err="1"/>
                        <a:t>Zhaoying</a:t>
                      </a:r>
                      <a:r>
                        <a:rPr lang="en-IN" dirty="0"/>
                        <a:t> Li et al., 2025</a:t>
                      </a:r>
                      <a:endParaRPr lang="en-US" alt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dirty="0"/>
                        <a:t>CAD Detection Using PPG via GAF Transformation and Deep Learning</a:t>
                      </a:r>
                      <a:endParaRPr lang="en-US" alt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dirty="0"/>
                        <a:t>To develop a non-invasive deep learning method for CAD detection using PPG signals.</a:t>
                      </a:r>
                      <a:endParaRPr lang="en-US" alt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dirty="0"/>
                        <a:t>PPG signals were filtered, segmented, transformed into GASF and GADF images, and classified using an SE-</a:t>
                      </a:r>
                      <a:r>
                        <a:rPr lang="en-US" dirty="0" err="1"/>
                        <a:t>ResNet</a:t>
                      </a:r>
                      <a:r>
                        <a:rPr lang="en-US" dirty="0"/>
                        <a:t> deep learning model.</a:t>
                      </a:r>
                      <a:endParaRPr lang="en-US" alt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algn="l"/>
                      <a:r>
                        <a:rPr lang="en-US" dirty="0"/>
                        <a:t>The proposed model achieved high accuracy (92.43%) and AUC (0.98), outperforming existing PPG-based methods.</a:t>
                      </a:r>
                      <a:endParaRPr lang="en-US" alt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lt1"/>
                    </a:solidFill>
                  </a:tcPr>
                </a:tc>
                <a:tc>
                  <a:txBody>
                    <a:bodyPr/>
                    <a:lstStyle/>
                    <a:p>
                      <a:r>
                        <a:rPr lang="en-US" dirty="0"/>
                        <a:t>Limited dataset, binary classification only, and high computational cost due to image transformation..</a:t>
                      </a:r>
                      <a:endParaRPr lang="en-US" alt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1194125">
                <a:tc>
                  <a:txBody>
                    <a:bodyPr/>
                    <a:lstStyle/>
                    <a:p>
                      <a:pPr marL="0" marR="0" lvl="0" indent="0" algn="l" rtl="0">
                        <a:spcBef>
                          <a:spcPts val="0"/>
                        </a:spcBef>
                        <a:spcAft>
                          <a:spcPts val="0"/>
                        </a:spcAft>
                        <a:buNone/>
                      </a:pPr>
                      <a:r>
                        <a:rPr lang="en-GB" sz="2400" b="0" strike="noStrike">
                          <a:latin typeface="Times New Roman" panose="02020603050405020304"/>
                          <a:ea typeface="Times New Roman" panose="02020603050405020304"/>
                          <a:cs typeface="Times New Roman" panose="02020603050405020304"/>
                          <a:sym typeface="Times New Roman" panose="02020603050405020304"/>
                        </a:rPr>
                        <a:t>3</a:t>
                      </a:r>
                      <a:endParaRPr sz="2400" b="0" strike="noStrik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IN" dirty="0"/>
                        <a:t>Wu et al., 2024</a:t>
                      </a:r>
                      <a:endParaRPr 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dirty="0"/>
                        <a:t>Res-BiANet: Hybrid Deep Learning for Arrhythmia Detection Using PPG</a:t>
                      </a:r>
                      <a:endParaRPr 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dirty="0"/>
                        <a:t>To detect and classify multiple cardiac arrhythmias using PPG signals.</a:t>
                      </a:r>
                      <a:endParaRPr 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dirty="0"/>
                        <a:t>PPG signals were segmented and analyzed using a hybrid </a:t>
                      </a:r>
                      <a:r>
                        <a:rPr lang="en-US" dirty="0" err="1"/>
                        <a:t>ResNet</a:t>
                      </a:r>
                      <a:r>
                        <a:rPr lang="en-US" dirty="0"/>
                        <a:t>–</a:t>
                      </a:r>
                      <a:r>
                        <a:rPr lang="en-US" dirty="0" err="1"/>
                        <a:t>BiLSTM</a:t>
                      </a:r>
                      <a:r>
                        <a:rPr lang="en-US" dirty="0"/>
                        <a:t> model with multi-head attention for spatial and temporal feature learning.</a:t>
                      </a:r>
                      <a:endParaRPr 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algn="l">
                        <a:buNone/>
                      </a:pPr>
                      <a:r>
                        <a:rPr lang="en-US" dirty="0"/>
                        <a:t>The model achieved 92.38% accuracy and an F1-score of 86.88%, outperforming conventional CNN and RNN models.</a:t>
                      </a:r>
                      <a:endParaRPr lang="en-IN" sz="1400" dirty="0">
                        <a:latin typeface="Times New Roman" panose="02020603050405020304" pitchFamily="18" charset="0"/>
                        <a:cs typeface="Times New Roman" panose="02020603050405020304" pitchFamily="18" charset="0"/>
                      </a:endParaRPr>
                    </a:p>
                  </a:txBody>
                  <a:tcPr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dirty="0"/>
                        <a:t>Focused on arrhythmia detection, not CAD, and requires high computational resources with limited data.</a:t>
                      </a:r>
                      <a:endParaRPr lang="en-US" sz="1400" dirty="0">
                        <a:latin typeface="Times New Roman" panose="02020603050405020304" pitchFamily="18" charset="0"/>
                        <a:cs typeface="Times New Roman" panose="02020603050405020304" pitchFamily="18" charset="0"/>
                      </a:endParaRPr>
                    </a:p>
                  </a:txBody>
                  <a:tcPr marL="51606" marR="51606" marT="25803" marB="25803"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4"/>
        <p:cNvGrpSpPr/>
        <p:nvPr/>
      </p:nvGrpSpPr>
      <p:grpSpPr>
        <a:xfrm>
          <a:off x="0" y="0"/>
          <a:ext cx="0" cy="0"/>
          <a:chOff x="0" y="0"/>
          <a:chExt cx="0" cy="0"/>
        </a:xfrm>
      </p:grpSpPr>
      <p:sp>
        <p:nvSpPr>
          <p:cNvPr id="95" name="Google Shape;95;p19"/>
          <p:cNvSpPr txBox="1"/>
          <p:nvPr/>
        </p:nvSpPr>
        <p:spPr>
          <a:xfrm>
            <a:off x="609480" y="274680"/>
            <a:ext cx="10972800" cy="11430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GB" sz="3600" b="1">
                <a:solidFill>
                  <a:srgbClr val="0070C0"/>
                </a:solidFill>
                <a:latin typeface="Times New Roman" panose="02020603050405020304"/>
                <a:ea typeface="Times New Roman" panose="02020603050405020304"/>
                <a:cs typeface="Times New Roman" panose="02020603050405020304"/>
                <a:sym typeface="Times New Roman" panose="02020603050405020304"/>
              </a:rPr>
              <a:t>Literature Review</a:t>
            </a:r>
            <a:endParaRPr sz="4400" b="0" strike="noStrike">
              <a:latin typeface="Arial" panose="020B0604020202020204"/>
              <a:ea typeface="Arial" panose="020B0604020202020204"/>
              <a:cs typeface="Arial" panose="020B0604020202020204"/>
              <a:sym typeface="Arial" panose="020B0604020202020204"/>
            </a:endParaRPr>
          </a:p>
        </p:txBody>
      </p:sp>
      <p:graphicFrame>
        <p:nvGraphicFramePr>
          <p:cNvPr id="96" name="Google Shape;96;p19"/>
          <p:cNvGraphicFramePr/>
          <p:nvPr>
            <p:extLst>
              <p:ext uri="{D42A27DB-BD31-4B8C-83A1-F6EECF244321}">
                <p14:modId xmlns:p14="http://schemas.microsoft.com/office/powerpoint/2010/main" val="2299982388"/>
              </p:ext>
            </p:extLst>
          </p:nvPr>
        </p:nvGraphicFramePr>
        <p:xfrm>
          <a:off x="790560" y="1716481"/>
          <a:ext cx="11224000" cy="6086626"/>
        </p:xfrm>
        <a:graphic>
          <a:graphicData uri="http://schemas.openxmlformats.org/drawingml/2006/table">
            <a:tbl>
              <a:tblPr>
                <a:noFill/>
                <a:tableStyleId>{7D097AAA-96DC-4D88-958D-D62B003D6693}</a:tableStyleId>
              </a:tblPr>
              <a:tblGrid>
                <a:gridCol w="956625">
                  <a:extLst>
                    <a:ext uri="{9D8B030D-6E8A-4147-A177-3AD203B41FA5}">
                      <a16:colId xmlns:a16="http://schemas.microsoft.com/office/drawing/2014/main" val="20000"/>
                    </a:ext>
                  </a:extLst>
                </a:gridCol>
                <a:gridCol w="1581375">
                  <a:extLst>
                    <a:ext uri="{9D8B030D-6E8A-4147-A177-3AD203B41FA5}">
                      <a16:colId xmlns:a16="http://schemas.microsoft.com/office/drawing/2014/main" val="20001"/>
                    </a:ext>
                  </a:extLst>
                </a:gridCol>
                <a:gridCol w="1499472">
                  <a:extLst>
                    <a:ext uri="{9D8B030D-6E8A-4147-A177-3AD203B41FA5}">
                      <a16:colId xmlns:a16="http://schemas.microsoft.com/office/drawing/2014/main" val="20002"/>
                    </a:ext>
                  </a:extLst>
                </a:gridCol>
                <a:gridCol w="1591056">
                  <a:extLst>
                    <a:ext uri="{9D8B030D-6E8A-4147-A177-3AD203B41FA5}">
                      <a16:colId xmlns:a16="http://schemas.microsoft.com/office/drawing/2014/main" val="20003"/>
                    </a:ext>
                  </a:extLst>
                </a:gridCol>
                <a:gridCol w="1892808">
                  <a:extLst>
                    <a:ext uri="{9D8B030D-6E8A-4147-A177-3AD203B41FA5}">
                      <a16:colId xmlns:a16="http://schemas.microsoft.com/office/drawing/2014/main" val="20004"/>
                    </a:ext>
                  </a:extLst>
                </a:gridCol>
                <a:gridCol w="1884014">
                  <a:extLst>
                    <a:ext uri="{9D8B030D-6E8A-4147-A177-3AD203B41FA5}">
                      <a16:colId xmlns:a16="http://schemas.microsoft.com/office/drawing/2014/main" val="20005"/>
                    </a:ext>
                  </a:extLst>
                </a:gridCol>
                <a:gridCol w="1818650">
                  <a:extLst>
                    <a:ext uri="{9D8B030D-6E8A-4147-A177-3AD203B41FA5}">
                      <a16:colId xmlns:a16="http://schemas.microsoft.com/office/drawing/2014/main" val="20006"/>
                    </a:ext>
                  </a:extLst>
                </a:gridCol>
              </a:tblGrid>
              <a:tr h="650328">
                <a:tc>
                  <a:txBody>
                    <a:bodyPr/>
                    <a:lstStyle/>
                    <a:p>
                      <a:pPr marL="0" marR="0" lvl="0" indent="0" algn="l" rtl="0">
                        <a:lnSpc>
                          <a:spcPct val="100000"/>
                        </a:lnSpc>
                        <a:spcBef>
                          <a:spcPts val="0"/>
                        </a:spcBef>
                        <a:spcAft>
                          <a:spcPts val="0"/>
                        </a:spcAft>
                        <a:buNone/>
                      </a:pPr>
                      <a:r>
                        <a:rPr lang="en-GB" sz="2100" b="1" dirty="0" err="1">
                          <a:solidFill>
                            <a:schemeClr val="dk1"/>
                          </a:solidFill>
                        </a:rPr>
                        <a:t>S.No</a:t>
                      </a:r>
                      <a:r>
                        <a:rPr lang="en-GB" sz="2100" b="1" dirty="0">
                          <a:solidFill>
                            <a:schemeClr val="dk1"/>
                          </a:solidFill>
                        </a:rPr>
                        <a:t>.</a:t>
                      </a:r>
                      <a:endParaRPr sz="2100" b="1" dirty="0">
                        <a:solidFill>
                          <a:schemeClr val="dk1"/>
                        </a:solidFill>
                      </a:endParaRP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GB" sz="2100" b="1" dirty="0">
                          <a:solidFill>
                            <a:schemeClr val="dk1"/>
                          </a:solidFill>
                        </a:rPr>
                        <a:t>Author &amp; Year</a:t>
                      </a:r>
                      <a:endParaRPr sz="2100" b="1" dirty="0">
                        <a:solidFill>
                          <a:schemeClr val="dk1"/>
                        </a:solidFill>
                      </a:endParaRP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GB" sz="2100" b="1" dirty="0">
                          <a:solidFill>
                            <a:schemeClr val="dk1"/>
                          </a:solidFill>
                        </a:rPr>
                        <a:t>Title</a:t>
                      </a:r>
                      <a:endParaRPr sz="2100" b="1" dirty="0">
                        <a:solidFill>
                          <a:schemeClr val="dk1"/>
                        </a:solidFill>
                      </a:endParaRP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GB" sz="2100" b="1" dirty="0">
                          <a:solidFill>
                            <a:schemeClr val="dk1"/>
                          </a:solidFill>
                        </a:rPr>
                        <a:t>Objectives</a:t>
                      </a:r>
                      <a:endParaRPr sz="2100" b="1" dirty="0">
                        <a:solidFill>
                          <a:schemeClr val="dk1"/>
                        </a:solidFill>
                      </a:endParaRP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GB" sz="2100" b="1" dirty="0">
                          <a:solidFill>
                            <a:schemeClr val="dk1"/>
                          </a:solidFill>
                        </a:rPr>
                        <a:t>Methodology</a:t>
                      </a:r>
                      <a:endParaRPr sz="2100" b="1" dirty="0">
                        <a:solidFill>
                          <a:schemeClr val="dk1"/>
                        </a:solidFill>
                      </a:endParaRP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GB" sz="2100" b="1" dirty="0">
                          <a:solidFill>
                            <a:schemeClr val="dk1"/>
                          </a:solidFill>
                        </a:rPr>
                        <a:t>Findings</a:t>
                      </a:r>
                      <a:endParaRPr sz="2100" b="1" dirty="0">
                        <a:solidFill>
                          <a:schemeClr val="dk1"/>
                        </a:solidFill>
                      </a:endParaRP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GB" sz="2100" b="1" dirty="0">
                          <a:solidFill>
                            <a:schemeClr val="dk1"/>
                          </a:solidFill>
                        </a:rPr>
                        <a:t>Limitations</a:t>
                      </a:r>
                      <a:endParaRPr sz="2100" b="1" dirty="0">
                        <a:solidFill>
                          <a:schemeClr val="dk1"/>
                        </a:solidFill>
                      </a:endParaRPr>
                    </a:p>
                  </a:txBody>
                  <a:tcPr marL="91450" marR="91450" marT="45725" marB="457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248994">
                <a:tc>
                  <a:txBody>
                    <a:bodyPr/>
                    <a:lstStyle/>
                    <a:p>
                      <a:pPr marL="0" marR="0" lvl="0" indent="0" algn="l" rtl="0">
                        <a:spcBef>
                          <a:spcPts val="0"/>
                        </a:spcBef>
                        <a:spcAft>
                          <a:spcPts val="0"/>
                        </a:spcAft>
                        <a:buNone/>
                      </a:pPr>
                      <a:r>
                        <a:rPr lang="en-IN" altLang="en-GB" sz="2400">
                          <a:latin typeface="Times New Roman" panose="02020603050405020304"/>
                          <a:ea typeface="Times New Roman" panose="02020603050405020304"/>
                          <a:cs typeface="Times New Roman" panose="02020603050405020304"/>
                          <a:sym typeface="Times New Roman" panose="02020603050405020304"/>
                        </a:rPr>
                        <a:t>4</a:t>
                      </a:r>
                      <a:endParaRPr lang="en-IN" altLang="en-GB" sz="2400" b="0" strike="noStrik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a:buNone/>
                      </a:pPr>
                      <a:r>
                        <a:rPr lang="da-DK" sz="1600" dirty="0"/>
                        <a:t>Sadaf Iqbal et al., 2023</a:t>
                      </a:r>
                      <a:endParaRPr lang="en-IN" sz="1600" dirty="0">
                        <a:latin typeface="Times New Roman" panose="02020603050405020304" pitchFamily="18" charset="0"/>
                        <a:cs typeface="Times New Roman" panose="02020603050405020304" pitchFamily="18" charset="0"/>
                      </a:endParaRPr>
                    </a:p>
                  </a:txBody>
                  <a:tcPr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br>
                        <a:rPr lang="en-US" sz="1600" dirty="0"/>
                      </a:br>
                      <a:r>
                        <a:rPr lang="en-US" sz="1600" dirty="0"/>
                        <a:t>Deep Learning–Based CAD Detection Using Bilateral Finger PPG</a:t>
                      </a:r>
                      <a:endParaRPr lang="en-US" sz="1600" dirty="0">
                        <a:latin typeface="Times New Roman" panose="02020603050405020304" pitchFamily="18" charset="0"/>
                        <a:cs typeface="Times New Roman" panose="02020603050405020304" pitchFamily="18" charset="0"/>
                      </a:endParaRPr>
                    </a:p>
                  </a:txBody>
                  <a:tcPr marL="51606" marR="51606" marT="25803" marB="25803"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sz="1600" dirty="0"/>
                        <a:t>To detect coronary artery disease using non-invasive bilateral PPG signals and deep learning.</a:t>
                      </a:r>
                      <a:endParaRPr lang="en-US" sz="1600" dirty="0">
                        <a:latin typeface="Times New Roman" panose="02020603050405020304" pitchFamily="18" charset="0"/>
                        <a:cs typeface="Times New Roman" panose="02020603050405020304" pitchFamily="18" charset="0"/>
                      </a:endParaRPr>
                    </a:p>
                  </a:txBody>
                  <a:tcPr marL="51606" marR="51606" marT="25803" marB="25803"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sz="1600" dirty="0"/>
                        <a:t>Bilateral finger PPG signals were transformed into scalogram images and classified using a CNN (</a:t>
                      </a:r>
                      <a:r>
                        <a:rPr lang="en-US" sz="1600" dirty="0" err="1"/>
                        <a:t>GoogLeNet</a:t>
                      </a:r>
                      <a:r>
                        <a:rPr lang="en-US" sz="1600" dirty="0"/>
                        <a:t>) with transfer learning, and compared with K-NN.</a:t>
                      </a:r>
                      <a:endParaRPr lang="en-US" sz="1600" dirty="0">
                        <a:latin typeface="Times New Roman" panose="02020603050405020304" pitchFamily="18" charset="0"/>
                        <a:cs typeface="Times New Roman" panose="02020603050405020304" pitchFamily="18" charset="0"/>
                      </a:endParaRPr>
                    </a:p>
                  </a:txBody>
                  <a:tcPr marL="51606" marR="51606" marT="25803" marB="25803"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sz="1600" dirty="0"/>
                        <a:t>The CNN model achieved 83.8% accuracy and showed better performance than traditional machine learning methods, with good agreement to angiography results.</a:t>
                      </a:r>
                    </a:p>
                  </a:txBody>
                  <a:tcPr marL="91425" marR="91425" marT="91425" marB="91425">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sz="1600" dirty="0"/>
                        <a:t>Small dataset, requires high-quality PPG signals, and lacks large-scale validation.</a:t>
                      </a:r>
                      <a:endParaRPr lang="en-US" sz="1600" dirty="0">
                        <a:latin typeface="Times New Roman" panose="02020603050405020304" pitchFamily="18" charset="0"/>
                        <a:cs typeface="Times New Roman" panose="02020603050405020304" pitchFamily="18" charset="0"/>
                      </a:endParaRPr>
                    </a:p>
                  </a:txBody>
                  <a:tcPr marL="51606" marR="51606" marT="25803" marB="25803"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059317">
                <a:tc>
                  <a:txBody>
                    <a:bodyPr/>
                    <a:lstStyle/>
                    <a:p>
                      <a:pPr marL="0" lvl="0" indent="0" algn="l" rtl="0">
                        <a:spcBef>
                          <a:spcPts val="0"/>
                        </a:spcBef>
                        <a:spcAft>
                          <a:spcPts val="0"/>
                        </a:spcAft>
                        <a:buNone/>
                      </a:pPr>
                      <a:r>
                        <a:rPr lang="en-IN" altLang="en-GB" sz="2400" dirty="0">
                          <a:latin typeface="Times New Roman" panose="02020603050405020304"/>
                          <a:ea typeface="Times New Roman" panose="02020603050405020304"/>
                          <a:cs typeface="Times New Roman" panose="02020603050405020304"/>
                          <a:sym typeface="Times New Roman" panose="02020603050405020304"/>
                        </a:rPr>
                        <a:t>5</a:t>
                      </a:r>
                    </a:p>
                  </a:txBody>
                  <a:tcPr marL="91450" marR="91450" marT="45725" marB="45725">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IN" sz="1600" dirty="0">
                          <a:latin typeface="Times New Roman" panose="02020603050405020304" pitchFamily="18" charset="0"/>
                          <a:cs typeface="Times New Roman" panose="02020603050405020304" pitchFamily="18" charset="0"/>
                        </a:rPr>
                        <a:t> </a:t>
                      </a:r>
                      <a:r>
                        <a:rPr lang="en-IN" sz="1600" dirty="0"/>
                        <a:t>Johnson et al., 2016</a:t>
                      </a:r>
                      <a:endParaRPr lang="en-US" sz="1600" dirty="0">
                        <a:latin typeface="Times New Roman" panose="02020603050405020304" pitchFamily="18" charset="0"/>
                        <a:cs typeface="Times New Roman" panose="02020603050405020304" pitchFamily="18" charset="0"/>
                      </a:endParaRPr>
                    </a:p>
                  </a:txBody>
                  <a:tcPr marL="51606" marR="51606" marT="25803" marB="25803"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sz="1600" dirty="0"/>
                        <a:t>MIMIC-III: A Freely Accessible Critical Care Database</a:t>
                      </a:r>
                      <a:endParaRPr lang="en-US" sz="1600" dirty="0">
                        <a:latin typeface="Times New Roman" panose="02020603050405020304" pitchFamily="18" charset="0"/>
                        <a:cs typeface="Times New Roman" panose="02020603050405020304" pitchFamily="18" charset="0"/>
                      </a:endParaRPr>
                    </a:p>
                  </a:txBody>
                  <a:tcPr marL="51606" marR="51606" marT="25803" marB="25803"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sz="1600" dirty="0"/>
                        <a:t>To provide a large, open-access clinical database for medical and machine learning research.</a:t>
                      </a:r>
                      <a:endParaRPr lang="en-US" sz="1600" dirty="0">
                        <a:latin typeface="Times New Roman" panose="02020603050405020304" pitchFamily="18" charset="0"/>
                        <a:cs typeface="Times New Roman" panose="02020603050405020304" pitchFamily="18" charset="0"/>
                      </a:endParaRPr>
                    </a:p>
                  </a:txBody>
                  <a:tcPr marL="51606" marR="51606" marT="25803" marB="25803"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sz="1600" dirty="0"/>
                        <a:t>ICU patient data including vital signs, waveform signals (ECG, PPG), and clinical records were collected, de-identified, and organized into relational tables.</a:t>
                      </a:r>
                      <a:endParaRPr lang="en-US" sz="1600" dirty="0">
                        <a:latin typeface="Times New Roman" panose="02020603050405020304" pitchFamily="18" charset="0"/>
                        <a:cs typeface="Times New Roman" panose="02020603050405020304" pitchFamily="18" charset="0"/>
                      </a:endParaRPr>
                    </a:p>
                  </a:txBody>
                  <a:tcPr marL="51606" marR="51606" marT="25803" marB="25803"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dirty="0"/>
                        <a:t>MIMIC-III contains data from over 50,000 ICU admissions and is widely used for cardiovascular and deep learning research.</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r>
                        <a:rPr lang="en-US" sz="1600" dirty="0"/>
                        <a:t>Contains noisy and incomplete signals, requiring extensive preprocessing before analysis.</a:t>
                      </a:r>
                      <a:endParaRPr lang="en-US" sz="1600" dirty="0">
                        <a:latin typeface="Times New Roman" panose="02020603050405020304" pitchFamily="18" charset="0"/>
                        <a:cs typeface="Times New Roman" panose="02020603050405020304" pitchFamily="18" charset="0"/>
                      </a:endParaRPr>
                    </a:p>
                  </a:txBody>
                  <a:tcPr marL="51606" marR="51606" marT="25803" marB="25803"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0"/>
        <p:cNvGrpSpPr/>
        <p:nvPr/>
      </p:nvGrpSpPr>
      <p:grpSpPr>
        <a:xfrm>
          <a:off x="0" y="0"/>
          <a:ext cx="0" cy="0"/>
          <a:chOff x="0" y="0"/>
          <a:chExt cx="0" cy="0"/>
        </a:xfrm>
      </p:grpSpPr>
      <p:sp>
        <p:nvSpPr>
          <p:cNvPr id="101" name="Google Shape;101;p20"/>
          <p:cNvSpPr txBox="1"/>
          <p:nvPr/>
        </p:nvSpPr>
        <p:spPr>
          <a:xfrm>
            <a:off x="609480" y="274680"/>
            <a:ext cx="10972800" cy="11430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GB" sz="3600" b="1">
                <a:solidFill>
                  <a:srgbClr val="0070C0"/>
                </a:solidFill>
                <a:latin typeface="Times New Roman" panose="02020603050405020304"/>
                <a:ea typeface="Times New Roman" panose="02020603050405020304"/>
                <a:cs typeface="Times New Roman" panose="02020603050405020304"/>
                <a:sym typeface="Times New Roman" panose="02020603050405020304"/>
              </a:rPr>
              <a:t>Problem Statement</a:t>
            </a:r>
            <a:endParaRPr sz="4400" b="0" strike="noStrike">
              <a:latin typeface="Arial" panose="020B0604020202020204"/>
              <a:ea typeface="Arial" panose="020B0604020202020204"/>
              <a:cs typeface="Arial" panose="020B0604020202020204"/>
              <a:sym typeface="Arial" panose="020B0604020202020204"/>
            </a:endParaRPr>
          </a:p>
        </p:txBody>
      </p:sp>
      <p:sp>
        <p:nvSpPr>
          <p:cNvPr id="2" name="Content Placeholder 2"/>
          <p:cNvSpPr txBox="1"/>
          <p:nvPr/>
        </p:nvSpPr>
        <p:spPr>
          <a:xfrm>
            <a:off x="788074" y="1074379"/>
            <a:ext cx="10615612" cy="3589338"/>
          </a:xfrm>
          <a:prstGeom prst="rect">
            <a:avLst/>
          </a:prstGeom>
          <a:noFill/>
          <a:ln>
            <a:noFill/>
          </a:ln>
        </p:spPr>
        <p:txBody>
          <a:bodyPr spcFirstLastPara="1" wrap="square" lIns="0" tIns="0" rIns="0" bIns="0" anchor="t" anchorCtr="0">
            <a:norm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228600" indent="0"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19060FB9-9409-4E14-F23A-F9F05DC76116}"/>
              </a:ext>
            </a:extLst>
          </p:cNvPr>
          <p:cNvSpPr>
            <a:spLocks noChangeArrowheads="1"/>
          </p:cNvSpPr>
          <p:nvPr/>
        </p:nvSpPr>
        <p:spPr bwMode="auto">
          <a:xfrm>
            <a:off x="978674" y="1276135"/>
            <a:ext cx="11213326" cy="4305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Coronary Artery Disease (CAD) is one of the leading causes of death worldwide.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Existing CAD diagnosis methods such as ECG, angiography, and stress tests are costly and</a:t>
            </a:r>
          </a:p>
          <a:p>
            <a:pPr marL="0" marR="0" lvl="0" indent="0" algn="l" defTabSz="914400" rtl="0" eaLnBrk="0" fontAlgn="base" latinLnBrk="0" hangingPunct="0">
              <a:lnSpc>
                <a:spcPct val="2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invasive.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Photoplethysmography (PPG) signals are non-invasive and easily available through wearable</a:t>
            </a:r>
          </a:p>
          <a:p>
            <a:pPr marL="0" marR="0" lvl="0" indent="0" algn="l" defTabSz="914400" rtl="0" eaLnBrk="0" fontAlgn="base" latinLnBrk="0" hangingPunct="0">
              <a:lnSpc>
                <a:spcPct val="2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devices.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However, PPG signals are noisy and sensitive to motion artifacts.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There is a need for an accurate Deep Learning–based system to detect CAD using PPG signals.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6"/>
        <p:cNvGrpSpPr/>
        <p:nvPr/>
      </p:nvGrpSpPr>
      <p:grpSpPr>
        <a:xfrm>
          <a:off x="0" y="0"/>
          <a:ext cx="0" cy="0"/>
          <a:chOff x="0" y="0"/>
          <a:chExt cx="0" cy="0"/>
        </a:xfrm>
      </p:grpSpPr>
      <p:sp>
        <p:nvSpPr>
          <p:cNvPr id="107" name="Google Shape;107;p21"/>
          <p:cNvSpPr txBox="1"/>
          <p:nvPr/>
        </p:nvSpPr>
        <p:spPr>
          <a:xfrm>
            <a:off x="609480" y="274680"/>
            <a:ext cx="10972800" cy="11430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GB" sz="3600" b="1">
                <a:solidFill>
                  <a:srgbClr val="0070C0"/>
                </a:solidFill>
                <a:latin typeface="Times New Roman" panose="02020603050405020304"/>
                <a:ea typeface="Times New Roman" panose="02020603050405020304"/>
                <a:cs typeface="Times New Roman" panose="02020603050405020304"/>
                <a:sym typeface="Times New Roman" panose="02020603050405020304"/>
              </a:rPr>
              <a:t>Objectives</a:t>
            </a:r>
            <a:endParaRPr sz="4400" b="0" strike="noStrike">
              <a:latin typeface="Arial" panose="020B0604020202020204"/>
              <a:ea typeface="Arial" panose="020B0604020202020204"/>
              <a:cs typeface="Arial" panose="020B0604020202020204"/>
              <a:sym typeface="Arial" panose="020B0604020202020204"/>
            </a:endParaRPr>
          </a:p>
        </p:txBody>
      </p:sp>
      <p:sp>
        <p:nvSpPr>
          <p:cNvPr id="2" name="Content Placeholder 2"/>
          <p:cNvSpPr txBox="1"/>
          <p:nvPr/>
        </p:nvSpPr>
        <p:spPr>
          <a:xfrm>
            <a:off x="1438558" y="1252270"/>
            <a:ext cx="8757383" cy="5001046"/>
          </a:xfrm>
          <a:prstGeom prst="rect">
            <a:avLst/>
          </a:prstGeom>
          <a:noFill/>
          <a:ln>
            <a:noFill/>
          </a:ln>
        </p:spPr>
        <p:txBody>
          <a:bodyPr spcFirstLastPara="1" vert="horz" wrap="square" lIns="91440" tIns="45720" rIns="91440" bIns="45720" numCol="1" anchor="t" anchorCtr="0" compatLnSpc="1">
            <a:normAutofit fontScale="25000" lnSpcReduction="20000"/>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228600" indent="0">
              <a:lnSpc>
                <a:spcPct val="220000"/>
              </a:lnSpc>
            </a:pPr>
            <a:r>
              <a:rPr lang="en-US" sz="8000" b="1" dirty="0"/>
              <a:t>Primary Objective</a:t>
            </a:r>
          </a:p>
          <a:p>
            <a:pPr marL="571500" indent="-342900">
              <a:lnSpc>
                <a:spcPct val="220000"/>
              </a:lnSpc>
              <a:buFont typeface="Arial" panose="020B0604020202020204" pitchFamily="34" charset="0"/>
              <a:buChar char="•"/>
            </a:pPr>
            <a:r>
              <a:rPr lang="en-US" sz="8000" dirty="0"/>
              <a:t>To detect Coronary Artery Disease using PPG signals and Deep Learning techniques.</a:t>
            </a:r>
          </a:p>
          <a:p>
            <a:pPr marL="228600" indent="0">
              <a:lnSpc>
                <a:spcPct val="220000"/>
              </a:lnSpc>
            </a:pPr>
            <a:r>
              <a:rPr lang="en-US" sz="8000" b="1" dirty="0"/>
              <a:t>Secondary Objectives</a:t>
            </a:r>
          </a:p>
          <a:p>
            <a:pPr marL="571500" indent="-342900">
              <a:lnSpc>
                <a:spcPct val="220000"/>
              </a:lnSpc>
              <a:buFont typeface="Arial" panose="020B0604020202020204" pitchFamily="34" charset="0"/>
              <a:buChar char="•"/>
            </a:pPr>
            <a:r>
              <a:rPr lang="en-US" sz="8000" dirty="0"/>
              <a:t>To preprocess and clean noisy PPG signals.</a:t>
            </a:r>
          </a:p>
          <a:p>
            <a:pPr marL="571500" indent="-342900">
              <a:lnSpc>
                <a:spcPct val="220000"/>
              </a:lnSpc>
              <a:buFont typeface="Arial" panose="020B0604020202020204" pitchFamily="34" charset="0"/>
              <a:buChar char="•"/>
            </a:pPr>
            <a:r>
              <a:rPr lang="en-US" sz="8000" dirty="0"/>
              <a:t>To design a Deep Learning model for CAD detection.</a:t>
            </a:r>
          </a:p>
          <a:p>
            <a:pPr marL="571500" indent="-342900">
              <a:lnSpc>
                <a:spcPct val="220000"/>
              </a:lnSpc>
              <a:buFont typeface="Arial" panose="020B0604020202020204" pitchFamily="34" charset="0"/>
              <a:buChar char="•"/>
            </a:pPr>
            <a:r>
              <a:rPr lang="en-US" sz="8000" dirty="0"/>
              <a:t>To analyze temporal patterns in PPG signals.</a:t>
            </a:r>
          </a:p>
          <a:p>
            <a:pPr marL="571500" indent="-342900">
              <a:lnSpc>
                <a:spcPct val="220000"/>
              </a:lnSpc>
              <a:buFont typeface="Arial" panose="020B0604020202020204" pitchFamily="34" charset="0"/>
              <a:buChar char="•"/>
            </a:pPr>
            <a:r>
              <a:rPr lang="en-US" sz="8000" dirty="0"/>
              <a:t>To evaluate the model using standard performance metrics.</a:t>
            </a:r>
          </a:p>
          <a:p>
            <a:pPr marL="0" indent="0" algn="just">
              <a:lnSpc>
                <a:spcPct val="150000"/>
              </a:lnSpc>
              <a:spcBef>
                <a:spcPts val="580"/>
              </a:spcBef>
              <a:defRPr/>
            </a:pPr>
            <a:endParaRPr lang="en-US" altLang="en-US" sz="1600" kern="1200" dirty="0">
              <a:solidFill>
                <a:schemeClr val="tx1"/>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12"/>
        <p:cNvGrpSpPr/>
        <p:nvPr/>
      </p:nvGrpSpPr>
      <p:grpSpPr>
        <a:xfrm>
          <a:off x="0" y="0"/>
          <a:ext cx="0" cy="0"/>
          <a:chOff x="0" y="0"/>
          <a:chExt cx="0" cy="0"/>
        </a:xfrm>
      </p:grpSpPr>
      <p:sp>
        <p:nvSpPr>
          <p:cNvPr id="113" name="Google Shape;113;p22"/>
          <p:cNvSpPr txBox="1"/>
          <p:nvPr/>
        </p:nvSpPr>
        <p:spPr>
          <a:xfrm>
            <a:off x="609480" y="274680"/>
            <a:ext cx="10972800" cy="11430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GB" sz="3600" b="1">
                <a:solidFill>
                  <a:srgbClr val="0070C0"/>
                </a:solidFill>
                <a:latin typeface="Times New Roman" panose="02020603050405020304"/>
                <a:ea typeface="Times New Roman" panose="02020603050405020304"/>
                <a:cs typeface="Times New Roman" panose="02020603050405020304"/>
                <a:sym typeface="Times New Roman" panose="02020603050405020304"/>
              </a:rPr>
              <a:t>Proposed Methodology</a:t>
            </a:r>
            <a:endParaRPr sz="4400" b="0" strike="noStrike">
              <a:latin typeface="Arial" panose="020B0604020202020204"/>
              <a:ea typeface="Arial" panose="020B0604020202020204"/>
              <a:cs typeface="Arial" panose="020B0604020202020204"/>
              <a:sym typeface="Arial" panose="020B0604020202020204"/>
            </a:endParaRPr>
          </a:p>
        </p:txBody>
      </p:sp>
      <p:sp>
        <p:nvSpPr>
          <p:cNvPr id="4" name="TextBox 3">
            <a:extLst>
              <a:ext uri="{FF2B5EF4-FFF2-40B4-BE49-F238E27FC236}">
                <a16:creationId xmlns:a16="http://schemas.microsoft.com/office/drawing/2014/main" id="{B95C5540-58A1-E298-0E1F-92CAD2E333A4}"/>
              </a:ext>
            </a:extLst>
          </p:cNvPr>
          <p:cNvSpPr txBox="1"/>
          <p:nvPr/>
        </p:nvSpPr>
        <p:spPr>
          <a:xfrm>
            <a:off x="1098755" y="1417680"/>
            <a:ext cx="10355825" cy="4992392"/>
          </a:xfrm>
          <a:prstGeom prst="rect">
            <a:avLst/>
          </a:prstGeom>
          <a:noFill/>
        </p:spPr>
        <p:txBody>
          <a:bodyPr wrap="square">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Collect PPG signals and clinical data from a standard medical dataset.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Preprocess the PPG signals by cleaning, normalizing, and removing flat or noisy segments.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Segment the PPG signals into fixed-length windows to ensure uniform input for the model.</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Train a hybrid </a:t>
            </a:r>
            <a:r>
              <a:rPr kumimoji="0" lang="en-US" altLang="en-US" sz="1800" b="1" i="0" u="none" strike="noStrike" cap="none" normalizeH="0" baseline="0" dirty="0">
                <a:ln>
                  <a:noFill/>
                </a:ln>
                <a:solidFill>
                  <a:schemeClr val="tx1"/>
                </a:solidFill>
                <a:effectLst/>
                <a:latin typeface="Arial" panose="020B0604020202020204" pitchFamily="34" charset="0"/>
              </a:rPr>
              <a:t>CNN–Bidirectional LSTM</a:t>
            </a:r>
            <a:r>
              <a:rPr kumimoji="0" lang="en-US" altLang="en-US" sz="1800" b="0" i="0" u="none" strike="noStrike" cap="none" normalizeH="0" baseline="0" dirty="0">
                <a:ln>
                  <a:noFill/>
                </a:ln>
                <a:solidFill>
                  <a:schemeClr val="tx1"/>
                </a:solidFill>
                <a:effectLst/>
                <a:latin typeface="Arial" panose="020B0604020202020204" pitchFamily="34" charset="0"/>
              </a:rPr>
              <a:t> model with an attention mechanism to learn both waveform and temporal features.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Aggregate segment-level predictions using </a:t>
            </a:r>
            <a:r>
              <a:rPr kumimoji="0" lang="en-US" altLang="en-US" sz="1800" b="1" i="0" u="none" strike="noStrike" cap="none" normalizeH="0" baseline="0" dirty="0">
                <a:ln>
                  <a:noFill/>
                </a:ln>
                <a:solidFill>
                  <a:schemeClr val="tx1"/>
                </a:solidFill>
                <a:effectLst/>
                <a:latin typeface="Arial" panose="020B0604020202020204" pitchFamily="34" charset="0"/>
              </a:rPr>
              <a:t>patient-level top-K soft voting</a:t>
            </a:r>
            <a:r>
              <a:rPr kumimoji="0" lang="en-US" altLang="en-US" sz="1800" b="0" i="0" u="none" strike="noStrike" cap="none" normalizeH="0" baseline="0" dirty="0">
                <a:ln>
                  <a:noFill/>
                </a:ln>
                <a:solidFill>
                  <a:schemeClr val="tx1"/>
                </a:solidFill>
                <a:effectLst/>
                <a:latin typeface="Arial" panose="020B0604020202020204" pitchFamily="34" charset="0"/>
              </a:rPr>
              <a:t> with optimized threshold selection.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Evaluate the system using patient-wise test data to accurately predict the presence or absence of CAD.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18"/>
        <p:cNvGrpSpPr/>
        <p:nvPr/>
      </p:nvGrpSpPr>
      <p:grpSpPr>
        <a:xfrm>
          <a:off x="0" y="0"/>
          <a:ext cx="0" cy="0"/>
          <a:chOff x="0" y="0"/>
          <a:chExt cx="0" cy="0"/>
        </a:xfrm>
      </p:grpSpPr>
      <p:sp>
        <p:nvSpPr>
          <p:cNvPr id="119" name="Google Shape;119;p23"/>
          <p:cNvSpPr txBox="1"/>
          <p:nvPr/>
        </p:nvSpPr>
        <p:spPr>
          <a:xfrm>
            <a:off x="609480" y="274680"/>
            <a:ext cx="10972800" cy="11430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GB" sz="3600" b="1">
                <a:solidFill>
                  <a:srgbClr val="0070C0"/>
                </a:solidFill>
                <a:latin typeface="Times New Roman" panose="02020603050405020304"/>
                <a:ea typeface="Times New Roman" panose="02020603050405020304"/>
                <a:cs typeface="Times New Roman" panose="02020603050405020304"/>
                <a:sym typeface="Times New Roman" panose="02020603050405020304"/>
              </a:rPr>
              <a:t>Block Diagram</a:t>
            </a:r>
            <a:endParaRPr sz="4400" b="0" strike="noStrike">
              <a:latin typeface="Arial" panose="020B0604020202020204"/>
              <a:ea typeface="Arial" panose="020B0604020202020204"/>
              <a:cs typeface="Arial" panose="020B0604020202020204"/>
              <a:sym typeface="Arial" panose="020B0604020202020204"/>
            </a:endParaRPr>
          </a:p>
        </p:txBody>
      </p:sp>
      <p:pic>
        <p:nvPicPr>
          <p:cNvPr id="6" name="Picture 5">
            <a:extLst>
              <a:ext uri="{FF2B5EF4-FFF2-40B4-BE49-F238E27FC236}">
                <a16:creationId xmlns:a16="http://schemas.microsoft.com/office/drawing/2014/main" id="{7ED1286F-BC46-4B6F-755E-EB91EE8533C0}"/>
              </a:ext>
            </a:extLst>
          </p:cNvPr>
          <p:cNvPicPr>
            <a:picLocks noChangeAspect="1"/>
          </p:cNvPicPr>
          <p:nvPr/>
        </p:nvPicPr>
        <p:blipFill>
          <a:blip r:embed="rId4"/>
          <a:stretch>
            <a:fillRect/>
          </a:stretch>
        </p:blipFill>
        <p:spPr>
          <a:xfrm>
            <a:off x="1032267" y="1799304"/>
            <a:ext cx="10550013" cy="4863690"/>
          </a:xfrm>
          <a:prstGeom prst="rect">
            <a:avLst/>
          </a:prstGeom>
          <a:ln>
            <a:noFill/>
          </a:ln>
          <a:effectLst>
            <a:softEdge rad="11250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24"/>
        <p:cNvGrpSpPr/>
        <p:nvPr/>
      </p:nvGrpSpPr>
      <p:grpSpPr>
        <a:xfrm>
          <a:off x="0" y="0"/>
          <a:ext cx="0" cy="0"/>
          <a:chOff x="0" y="0"/>
          <a:chExt cx="0" cy="0"/>
        </a:xfrm>
      </p:grpSpPr>
      <p:sp>
        <p:nvSpPr>
          <p:cNvPr id="125" name="Google Shape;125;p24"/>
          <p:cNvSpPr txBox="1"/>
          <p:nvPr/>
        </p:nvSpPr>
        <p:spPr>
          <a:xfrm>
            <a:off x="609480" y="274680"/>
            <a:ext cx="10972800" cy="11430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GB" sz="3600" b="1">
                <a:solidFill>
                  <a:srgbClr val="0070C0"/>
                </a:solidFill>
                <a:latin typeface="Times New Roman" panose="02020603050405020304"/>
                <a:ea typeface="Times New Roman" panose="02020603050405020304"/>
                <a:cs typeface="Times New Roman" panose="02020603050405020304"/>
                <a:sym typeface="Times New Roman" panose="02020603050405020304"/>
              </a:rPr>
              <a:t>Dataset </a:t>
            </a:r>
            <a:endParaRPr sz="4400" b="0" strike="noStrike">
              <a:latin typeface="Arial" panose="020B0604020202020204"/>
              <a:ea typeface="Arial" panose="020B0604020202020204"/>
              <a:cs typeface="Arial" panose="020B0604020202020204"/>
              <a:sym typeface="Arial" panose="020B0604020202020204"/>
            </a:endParaRPr>
          </a:p>
        </p:txBody>
      </p:sp>
      <p:sp>
        <p:nvSpPr>
          <p:cNvPr id="126" name="Google Shape;126;p24"/>
          <p:cNvSpPr txBox="1"/>
          <p:nvPr/>
        </p:nvSpPr>
        <p:spPr>
          <a:xfrm>
            <a:off x="911232" y="1243944"/>
            <a:ext cx="10972800" cy="5265011"/>
          </a:xfrm>
          <a:prstGeom prst="rect">
            <a:avLst/>
          </a:prstGeom>
          <a:noFill/>
          <a:ln>
            <a:noFill/>
          </a:ln>
        </p:spPr>
        <p:txBody>
          <a:bodyPr spcFirstLastPara="1" wrap="square" lIns="91425" tIns="45700" rIns="91425" bIns="45700" anchor="t" anchorCtr="0">
            <a:noAutofit/>
          </a:bodyPr>
          <a:lstStyle/>
          <a:p>
            <a:pPr>
              <a:lnSpc>
                <a:spcPct val="150000"/>
              </a:lnSpc>
            </a:pPr>
            <a:r>
              <a:rPr lang="en-IN" sz="1800" b="1" dirty="0"/>
              <a:t>Dataset Source</a:t>
            </a:r>
          </a:p>
          <a:p>
            <a:pPr>
              <a:lnSpc>
                <a:spcPct val="150000"/>
              </a:lnSpc>
            </a:pPr>
            <a:r>
              <a:rPr lang="en-IN" sz="1800" b="1" dirty="0"/>
              <a:t>PhysioNet – MIMIC-III Clinical Database</a:t>
            </a:r>
            <a:endParaRPr lang="en-IN" sz="1800" dirty="0"/>
          </a:p>
          <a:p>
            <a:pPr marL="342900" indent="-342900">
              <a:lnSpc>
                <a:spcPct val="150000"/>
              </a:lnSpc>
              <a:buFont typeface="Arial" panose="020B0604020202020204" pitchFamily="34" charset="0"/>
              <a:buChar char="•"/>
            </a:pPr>
            <a:r>
              <a:rPr lang="en-IN" sz="1800" dirty="0"/>
              <a:t>Publicly available medical dataset</a:t>
            </a:r>
          </a:p>
          <a:p>
            <a:pPr marL="342900" indent="-342900">
              <a:lnSpc>
                <a:spcPct val="150000"/>
              </a:lnSpc>
              <a:buFont typeface="Arial" panose="020B0604020202020204" pitchFamily="34" charset="0"/>
              <a:buChar char="•"/>
            </a:pPr>
            <a:r>
              <a:rPr lang="en-IN" sz="1800" dirty="0"/>
              <a:t>Collected from ICU patients</a:t>
            </a:r>
          </a:p>
          <a:p>
            <a:pPr marL="342900" indent="-342900">
              <a:lnSpc>
                <a:spcPct val="150000"/>
              </a:lnSpc>
              <a:buFont typeface="Arial" panose="020B0604020202020204" pitchFamily="34" charset="0"/>
              <a:buChar char="•"/>
            </a:pPr>
            <a:r>
              <a:rPr lang="en-IN" sz="1800" dirty="0"/>
              <a:t>Contains physiological signals including </a:t>
            </a:r>
            <a:r>
              <a:rPr lang="en-IN" sz="1800" b="1" dirty="0"/>
              <a:t>PPG</a:t>
            </a:r>
            <a:endParaRPr lang="en-IN" sz="1800" dirty="0"/>
          </a:p>
          <a:p>
            <a:pPr>
              <a:lnSpc>
                <a:spcPct val="150000"/>
              </a:lnSpc>
            </a:pPr>
            <a:r>
              <a:rPr lang="en-IN" sz="1800" b="1" dirty="0"/>
              <a:t>Type of Data</a:t>
            </a:r>
          </a:p>
          <a:p>
            <a:pPr marL="342900" indent="-342900">
              <a:lnSpc>
                <a:spcPct val="150000"/>
              </a:lnSpc>
              <a:buFont typeface="Arial" panose="020B0604020202020204" pitchFamily="34" charset="0"/>
              <a:buChar char="•"/>
            </a:pPr>
            <a:r>
              <a:rPr lang="en-IN" sz="1800" dirty="0"/>
              <a:t>Photoplethysmography (PPG) signals</a:t>
            </a:r>
          </a:p>
          <a:p>
            <a:pPr marL="342900" indent="-342900">
              <a:lnSpc>
                <a:spcPct val="150000"/>
              </a:lnSpc>
              <a:buFont typeface="Arial" panose="020B0604020202020204" pitchFamily="34" charset="0"/>
              <a:buChar char="•"/>
            </a:pPr>
            <a:r>
              <a:rPr lang="en-IN" sz="1800" dirty="0"/>
              <a:t>Time-series pulse waveform data</a:t>
            </a:r>
          </a:p>
          <a:p>
            <a:pPr marL="342900" indent="-342900">
              <a:lnSpc>
                <a:spcPct val="150000"/>
              </a:lnSpc>
              <a:buFont typeface="Arial" panose="020B0604020202020204" pitchFamily="34" charset="0"/>
              <a:buChar char="•"/>
            </a:pPr>
            <a:r>
              <a:rPr lang="en-IN" sz="1800" dirty="0"/>
              <a:t>Non-invasive signal collected using sensors</a:t>
            </a:r>
          </a:p>
          <a:p>
            <a:pPr>
              <a:lnSpc>
                <a:spcPct val="150000"/>
              </a:lnSpc>
            </a:pPr>
            <a:r>
              <a:rPr lang="en-IN" sz="1800" b="1" dirty="0"/>
              <a:t>Purpose of Dataset</a:t>
            </a:r>
          </a:p>
          <a:p>
            <a:pPr marL="342900" indent="-342900">
              <a:lnSpc>
                <a:spcPct val="150000"/>
              </a:lnSpc>
              <a:buFont typeface="Arial" panose="020B0604020202020204" pitchFamily="34" charset="0"/>
              <a:buChar char="•"/>
            </a:pPr>
            <a:r>
              <a:rPr lang="en-IN" sz="1800" dirty="0"/>
              <a:t>Used to </a:t>
            </a:r>
            <a:r>
              <a:rPr lang="en-IN" sz="1800" dirty="0" err="1"/>
              <a:t>analyze</a:t>
            </a:r>
            <a:r>
              <a:rPr lang="en-IN" sz="1800" dirty="0"/>
              <a:t> cardiovascular conditions</a:t>
            </a:r>
          </a:p>
          <a:p>
            <a:pPr marL="342900" indent="-342900">
              <a:lnSpc>
                <a:spcPct val="150000"/>
              </a:lnSpc>
              <a:buFont typeface="Arial" panose="020B0604020202020204" pitchFamily="34" charset="0"/>
              <a:buChar char="•"/>
            </a:pPr>
            <a:r>
              <a:rPr lang="en-IN" sz="1800" dirty="0"/>
              <a:t>Helps in detecting </a:t>
            </a:r>
            <a:r>
              <a:rPr lang="en-IN" sz="1800" b="1" dirty="0"/>
              <a:t>Coronary Artery Disease (CAD)</a:t>
            </a:r>
            <a:endParaRPr lang="en-US" altLang="en-US" sz="1800" dirty="0">
              <a:solidFill>
                <a:schemeClr val="tx1"/>
              </a:solidFill>
              <a:latin typeface="Arial" panose="020B0604020202020204" pitchFamily="34" charset="0"/>
            </a:endParaRPr>
          </a:p>
          <a:p>
            <a:pPr marL="342900" marR="0" lvl="0" indent="-342900" algn="l" rtl="0">
              <a:lnSpc>
                <a:spcPct val="150000"/>
              </a:lnSpc>
              <a:spcBef>
                <a:spcPts val="0"/>
              </a:spcBef>
              <a:spcAft>
                <a:spcPts val="0"/>
              </a:spcAft>
              <a:buClr>
                <a:srgbClr val="000000"/>
              </a:buClr>
              <a:buSzPts val="3200"/>
              <a:buFont typeface="Arial" panose="020B0604020202020204"/>
              <a:buChar char="•"/>
            </a:pPr>
            <a:endParaRPr sz="1800" b="0" strike="noStrike" dirty="0">
              <a:latin typeface="Arial" panose="020B0604020202020204"/>
              <a:ea typeface="Arial" panose="020B0604020202020204"/>
              <a:cs typeface="Arial" panose="020B0604020202020204"/>
              <a:sym typeface="Arial" panose="020B0604020202020204"/>
            </a:endParaRPr>
          </a:p>
        </p:txBody>
      </p:sp>
      <p:sp>
        <p:nvSpPr>
          <p:cNvPr id="2" name="Rectangle 1">
            <a:extLst>
              <a:ext uri="{FF2B5EF4-FFF2-40B4-BE49-F238E27FC236}">
                <a16:creationId xmlns:a16="http://schemas.microsoft.com/office/drawing/2014/main" id="{C8BABB09-FDA6-15C5-2929-B3BE247B693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24"/>
        <p:cNvGrpSpPr/>
        <p:nvPr/>
      </p:nvGrpSpPr>
      <p:grpSpPr>
        <a:xfrm>
          <a:off x="0" y="0"/>
          <a:ext cx="0" cy="0"/>
          <a:chOff x="0" y="0"/>
          <a:chExt cx="0" cy="0"/>
        </a:xfrm>
      </p:grpSpPr>
      <p:sp>
        <p:nvSpPr>
          <p:cNvPr id="125" name="Google Shape;125;p24"/>
          <p:cNvSpPr txBox="1"/>
          <p:nvPr/>
        </p:nvSpPr>
        <p:spPr>
          <a:xfrm>
            <a:off x="609480" y="274680"/>
            <a:ext cx="10972800" cy="11430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GB" sz="3600" b="1">
                <a:solidFill>
                  <a:srgbClr val="0070C0"/>
                </a:solidFill>
                <a:latin typeface="Times New Roman" panose="02020603050405020304"/>
                <a:ea typeface="Times New Roman" panose="02020603050405020304"/>
                <a:cs typeface="Times New Roman" panose="02020603050405020304"/>
                <a:sym typeface="Times New Roman" panose="02020603050405020304"/>
              </a:rPr>
              <a:t>Dataset </a:t>
            </a:r>
            <a:endParaRPr sz="4400" b="0" strike="noStrike">
              <a:latin typeface="Arial" panose="020B0604020202020204"/>
              <a:ea typeface="Arial" panose="020B0604020202020204"/>
              <a:cs typeface="Arial" panose="020B0604020202020204"/>
              <a:sym typeface="Arial" panose="020B0604020202020204"/>
            </a:endParaRPr>
          </a:p>
        </p:txBody>
      </p:sp>
      <p:sp>
        <p:nvSpPr>
          <p:cNvPr id="126" name="Google Shape;126;p24"/>
          <p:cNvSpPr txBox="1"/>
          <p:nvPr/>
        </p:nvSpPr>
        <p:spPr>
          <a:xfrm>
            <a:off x="966096" y="1271375"/>
            <a:ext cx="10972800" cy="5394895"/>
          </a:xfrm>
          <a:prstGeom prst="rect">
            <a:avLst/>
          </a:prstGeom>
          <a:noFill/>
          <a:ln>
            <a:noFill/>
          </a:ln>
        </p:spPr>
        <p:txBody>
          <a:bodyPr spcFirstLastPara="1" wrap="square" lIns="91425" tIns="45700" rIns="91425" bIns="45700" anchor="t" anchorCtr="0">
            <a:noAutofit/>
          </a:bodyPr>
          <a:lstStyle/>
          <a:p>
            <a:pPr>
              <a:lnSpc>
                <a:spcPct val="150000"/>
              </a:lnSpc>
            </a:pPr>
            <a:r>
              <a:rPr lang="en-IN" sz="1600" b="1" dirty="0"/>
              <a:t>Dataset Statistics</a:t>
            </a:r>
          </a:p>
          <a:p>
            <a:pPr marL="342900" indent="-342900">
              <a:lnSpc>
                <a:spcPct val="150000"/>
              </a:lnSpc>
              <a:buFont typeface="Arial" panose="020B0604020202020204" pitchFamily="34" charset="0"/>
              <a:buChar char="•"/>
            </a:pPr>
            <a:r>
              <a:rPr lang="en-IN" sz="1600" b="1" dirty="0"/>
              <a:t>Number of Samples:</a:t>
            </a:r>
            <a:r>
              <a:rPr lang="en-IN" sz="1600" dirty="0"/>
              <a:t> Thousands of PPG signal segments</a:t>
            </a:r>
          </a:p>
          <a:p>
            <a:pPr marL="342900" indent="-342900">
              <a:lnSpc>
                <a:spcPct val="150000"/>
              </a:lnSpc>
              <a:buFont typeface="Arial" panose="020B0604020202020204" pitchFamily="34" charset="0"/>
              <a:buChar char="•"/>
            </a:pPr>
            <a:r>
              <a:rPr lang="en-IN" sz="1600" b="1" dirty="0"/>
              <a:t>Features:</a:t>
            </a:r>
            <a:r>
              <a:rPr lang="en-IN" sz="1600" dirty="0"/>
              <a:t> Raw PPG waveform values (time-series)</a:t>
            </a:r>
          </a:p>
          <a:p>
            <a:pPr marL="342900" indent="-342900">
              <a:lnSpc>
                <a:spcPct val="150000"/>
              </a:lnSpc>
              <a:buFont typeface="Arial" panose="020B0604020202020204" pitchFamily="34" charset="0"/>
              <a:buChar char="•"/>
            </a:pPr>
            <a:r>
              <a:rPr lang="en-IN" sz="1600" b="1" dirty="0"/>
              <a:t>Classes:</a:t>
            </a:r>
            <a:endParaRPr lang="en-IN" sz="1600" dirty="0"/>
          </a:p>
          <a:p>
            <a:pPr marL="342900" lvl="1" indent="-342900">
              <a:lnSpc>
                <a:spcPct val="150000"/>
              </a:lnSpc>
              <a:buFont typeface="Arial" panose="020B0604020202020204" pitchFamily="34" charset="0"/>
              <a:buChar char="•"/>
            </a:pPr>
            <a:r>
              <a:rPr lang="en-IN" sz="1600" dirty="0"/>
              <a:t>CAD</a:t>
            </a:r>
          </a:p>
          <a:p>
            <a:pPr marL="342900" lvl="1" indent="-342900">
              <a:lnSpc>
                <a:spcPct val="150000"/>
              </a:lnSpc>
              <a:buFont typeface="Arial" panose="020B0604020202020204" pitchFamily="34" charset="0"/>
              <a:buChar char="•"/>
            </a:pPr>
            <a:r>
              <a:rPr lang="en-IN" sz="1600" dirty="0"/>
              <a:t>Non-CAD</a:t>
            </a:r>
          </a:p>
          <a:p>
            <a:pPr>
              <a:lnSpc>
                <a:spcPct val="150000"/>
              </a:lnSpc>
            </a:pPr>
            <a:r>
              <a:rPr lang="en-IN" sz="1600" b="1" dirty="0"/>
              <a:t>Data Challenges</a:t>
            </a:r>
          </a:p>
          <a:p>
            <a:pPr marL="342900" indent="-342900">
              <a:lnSpc>
                <a:spcPct val="150000"/>
              </a:lnSpc>
              <a:buFont typeface="Arial" panose="020B0604020202020204" pitchFamily="34" charset="0"/>
              <a:buChar char="•"/>
            </a:pPr>
            <a:r>
              <a:rPr lang="en-IN" sz="1600" dirty="0"/>
              <a:t>Presence of </a:t>
            </a:r>
            <a:r>
              <a:rPr lang="en-IN" sz="1600" b="1" dirty="0"/>
              <a:t>motion noise and artifacts</a:t>
            </a:r>
            <a:endParaRPr lang="en-IN" sz="1600" dirty="0"/>
          </a:p>
          <a:p>
            <a:pPr marL="342900" indent="-342900">
              <a:lnSpc>
                <a:spcPct val="150000"/>
              </a:lnSpc>
              <a:buFont typeface="Arial" panose="020B0604020202020204" pitchFamily="34" charset="0"/>
              <a:buChar char="•"/>
            </a:pPr>
            <a:r>
              <a:rPr lang="en-IN" sz="1600" b="1" dirty="0"/>
              <a:t>Signal variability</a:t>
            </a:r>
            <a:r>
              <a:rPr lang="en-IN" sz="1600" dirty="0"/>
              <a:t> across patients</a:t>
            </a:r>
          </a:p>
          <a:p>
            <a:pPr marL="342900" indent="-342900">
              <a:lnSpc>
                <a:spcPct val="150000"/>
              </a:lnSpc>
              <a:buFont typeface="Arial" panose="020B0604020202020204" pitchFamily="34" charset="0"/>
              <a:buChar char="•"/>
            </a:pPr>
            <a:r>
              <a:rPr lang="en-IN" sz="1600" b="1" dirty="0"/>
              <a:t>Class imbalance</a:t>
            </a:r>
            <a:r>
              <a:rPr lang="en-IN" sz="1600" dirty="0"/>
              <a:t> between CAD and Non-CAD cases</a:t>
            </a:r>
          </a:p>
          <a:p>
            <a:pPr>
              <a:lnSpc>
                <a:spcPct val="150000"/>
              </a:lnSpc>
            </a:pPr>
            <a:r>
              <a:rPr lang="en-IN" sz="1600" b="1" dirty="0"/>
              <a:t>Missing or corrupted signal segments</a:t>
            </a:r>
            <a:endParaRPr lang="en-IN" sz="1600" dirty="0"/>
          </a:p>
          <a:p>
            <a:pPr marL="342900" indent="-342900">
              <a:lnSpc>
                <a:spcPct val="150000"/>
              </a:lnSpc>
              <a:buFont typeface="Arial" panose="020B0604020202020204" pitchFamily="34" charset="0"/>
              <a:buChar char="•"/>
            </a:pPr>
            <a:r>
              <a:rPr lang="en-IN" sz="1600" b="1" dirty="0"/>
              <a:t>Dataset Samples</a:t>
            </a:r>
          </a:p>
          <a:p>
            <a:pPr marL="342900" indent="-342900">
              <a:lnSpc>
                <a:spcPct val="150000"/>
              </a:lnSpc>
              <a:buFont typeface="Arial" panose="020B0604020202020204" pitchFamily="34" charset="0"/>
              <a:buChar char="•"/>
            </a:pPr>
            <a:r>
              <a:rPr lang="en-IN" sz="1600" dirty="0"/>
              <a:t>Raw PPG waveform plots</a:t>
            </a:r>
          </a:p>
          <a:p>
            <a:pPr marL="342900" indent="-342900">
              <a:lnSpc>
                <a:spcPct val="150000"/>
              </a:lnSpc>
              <a:buFont typeface="Arial" panose="020B0604020202020204" pitchFamily="34" charset="0"/>
              <a:buChar char="•"/>
            </a:pPr>
            <a:r>
              <a:rPr lang="en-IN" sz="1600" dirty="0"/>
              <a:t>Cleaned PPG signals after preprocessing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30"/>
        <p:cNvGrpSpPr/>
        <p:nvPr/>
      </p:nvGrpSpPr>
      <p:grpSpPr>
        <a:xfrm>
          <a:off x="0" y="0"/>
          <a:ext cx="0" cy="0"/>
          <a:chOff x="0" y="0"/>
          <a:chExt cx="0" cy="0"/>
        </a:xfrm>
      </p:grpSpPr>
      <p:sp>
        <p:nvSpPr>
          <p:cNvPr id="131" name="Google Shape;131;p25"/>
          <p:cNvSpPr txBox="1"/>
          <p:nvPr/>
        </p:nvSpPr>
        <p:spPr>
          <a:xfrm>
            <a:off x="609480" y="274680"/>
            <a:ext cx="10972800" cy="11430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GB" sz="3600" b="1">
                <a:solidFill>
                  <a:srgbClr val="0070C0"/>
                </a:solidFill>
                <a:latin typeface="Times New Roman" panose="02020603050405020304"/>
                <a:ea typeface="Times New Roman" panose="02020603050405020304"/>
                <a:cs typeface="Times New Roman" panose="02020603050405020304"/>
                <a:sym typeface="Times New Roman" panose="02020603050405020304"/>
              </a:rPr>
              <a:t>Algorithms</a:t>
            </a:r>
            <a:r>
              <a:rPr lang="en-GB" sz="3200" b="1" strike="noStrike">
                <a:solidFill>
                  <a:srgbClr val="000000"/>
                </a:solidFill>
                <a:latin typeface="Calibri" panose="020F0502020204030204"/>
                <a:ea typeface="Calibri" panose="020F0502020204030204"/>
                <a:cs typeface="Calibri" panose="020F0502020204030204"/>
                <a:sym typeface="Calibri" panose="020F0502020204030204"/>
              </a:rPr>
              <a:t> </a:t>
            </a:r>
            <a:endParaRPr sz="3200" b="0" strike="noStrike" dirty="0">
              <a:latin typeface="Arial" panose="020B0604020202020204"/>
              <a:ea typeface="Arial" panose="020B0604020202020204"/>
              <a:cs typeface="Arial" panose="020B0604020202020204"/>
              <a:sym typeface="Arial" panose="020B0604020202020204"/>
            </a:endParaRPr>
          </a:p>
        </p:txBody>
      </p:sp>
      <p:sp>
        <p:nvSpPr>
          <p:cNvPr id="132" name="Google Shape;132;p25"/>
          <p:cNvSpPr txBox="1"/>
          <p:nvPr/>
        </p:nvSpPr>
        <p:spPr>
          <a:xfrm>
            <a:off x="1143394" y="1494502"/>
            <a:ext cx="10183248" cy="5216637"/>
          </a:xfrm>
          <a:prstGeom prst="rect">
            <a:avLst/>
          </a:prstGeom>
          <a:noFill/>
          <a:ln>
            <a:noFill/>
          </a:ln>
        </p:spPr>
        <p:txBody>
          <a:bodyPr spcFirstLastPara="1" wrap="square" lIns="91425" tIns="45700" rIns="91425" bIns="45700" anchor="t" anchorCtr="0">
            <a:noAutofit/>
          </a:bodyPr>
          <a:lstStyle/>
          <a:p>
            <a:pPr>
              <a:lnSpc>
                <a:spcPct val="150000"/>
              </a:lnSpc>
            </a:pPr>
            <a:r>
              <a:rPr lang="en-IN" sz="1600" b="1" dirty="0"/>
              <a:t>Deep Learning Models Used</a:t>
            </a:r>
          </a:p>
          <a:p>
            <a:pPr>
              <a:lnSpc>
                <a:spcPct val="150000"/>
              </a:lnSpc>
              <a:buNone/>
            </a:pPr>
            <a:r>
              <a:rPr lang="en-IN" sz="1600" b="1" dirty="0"/>
              <a:t>Convolutional Neural Network (CNN)</a:t>
            </a:r>
            <a:endParaRPr lang="en-IN" sz="1600" dirty="0"/>
          </a:p>
          <a:p>
            <a:pPr>
              <a:lnSpc>
                <a:spcPct val="150000"/>
              </a:lnSpc>
              <a:buFont typeface="Arial" panose="020B0604020202020204" pitchFamily="34" charset="0"/>
              <a:buChar char="•"/>
            </a:pPr>
            <a:r>
              <a:rPr lang="en-IN" sz="1600" dirty="0"/>
              <a:t>Extracts local morphological features from PPG waveforms and identifies important patterns such as peaks and variations</a:t>
            </a:r>
          </a:p>
          <a:p>
            <a:pPr>
              <a:lnSpc>
                <a:spcPct val="150000"/>
              </a:lnSpc>
              <a:buNone/>
            </a:pPr>
            <a:r>
              <a:rPr lang="en-IN" sz="1600" b="1" dirty="0"/>
              <a:t>Bidirectional Long Short-Term Memory (</a:t>
            </a:r>
            <a:r>
              <a:rPr lang="en-IN" sz="1600" b="1" dirty="0" err="1"/>
              <a:t>BiLSTM</a:t>
            </a:r>
            <a:r>
              <a:rPr lang="en-IN" sz="1600" b="1" dirty="0"/>
              <a:t>)</a:t>
            </a:r>
            <a:endParaRPr lang="en-IN" sz="1600" dirty="0"/>
          </a:p>
          <a:p>
            <a:pPr>
              <a:lnSpc>
                <a:spcPct val="150000"/>
              </a:lnSpc>
              <a:buFont typeface="Arial" panose="020B0604020202020204" pitchFamily="34" charset="0"/>
              <a:buChar char="•"/>
            </a:pPr>
            <a:r>
              <a:rPr lang="en-IN" sz="1600" dirty="0"/>
              <a:t>Captures temporal dependencies in PPG signals from both past and future directions which improves understanding of heartbeat dynamics</a:t>
            </a:r>
          </a:p>
          <a:p>
            <a:pPr>
              <a:lnSpc>
                <a:spcPct val="150000"/>
              </a:lnSpc>
              <a:buNone/>
            </a:pPr>
            <a:r>
              <a:rPr lang="en-IN" sz="1600" b="1" dirty="0"/>
              <a:t>CNN + </a:t>
            </a:r>
            <a:r>
              <a:rPr lang="en-IN" sz="1600" b="1" dirty="0" err="1"/>
              <a:t>BiLSTM</a:t>
            </a:r>
            <a:r>
              <a:rPr lang="en-IN" sz="1600" b="1" dirty="0"/>
              <a:t> with Attention (Hybrid Model)</a:t>
            </a:r>
            <a:endParaRPr lang="en-IN" sz="1600" dirty="0"/>
          </a:p>
          <a:p>
            <a:pPr>
              <a:lnSpc>
                <a:spcPct val="150000"/>
              </a:lnSpc>
              <a:buFont typeface="Arial" panose="020B0604020202020204" pitchFamily="34" charset="0"/>
              <a:buChar char="•"/>
            </a:pPr>
            <a:r>
              <a:rPr lang="en-IN" sz="1600" dirty="0"/>
              <a:t>Combines spatial feature extraction and temporal learning</a:t>
            </a:r>
          </a:p>
          <a:p>
            <a:pPr>
              <a:lnSpc>
                <a:spcPct val="150000"/>
              </a:lnSpc>
            </a:pPr>
            <a:r>
              <a:rPr lang="en-IN" sz="1600" b="1" dirty="0"/>
              <a:t>Reason for Selection</a:t>
            </a:r>
            <a:endParaRPr lang="en-IN" sz="1600" dirty="0"/>
          </a:p>
          <a:p>
            <a:pPr marL="285750" indent="-285750">
              <a:lnSpc>
                <a:spcPct val="150000"/>
              </a:lnSpc>
              <a:buFont typeface="Arial" panose="020B0604020202020204" pitchFamily="34" charset="0"/>
              <a:buChar char="•"/>
            </a:pPr>
            <a:r>
              <a:rPr lang="en-IN" sz="1600" dirty="0"/>
              <a:t>Automatically learns features</a:t>
            </a:r>
          </a:p>
          <a:p>
            <a:pPr marL="285750" indent="-285750">
              <a:lnSpc>
                <a:spcPct val="150000"/>
              </a:lnSpc>
              <a:buFont typeface="Arial" panose="020B0604020202020204" pitchFamily="34" charset="0"/>
              <a:buChar char="•"/>
            </a:pPr>
            <a:r>
              <a:rPr lang="en-IN" sz="1600" dirty="0"/>
              <a:t>Handles raw PPG signals</a:t>
            </a:r>
          </a:p>
          <a:p>
            <a:pPr marL="285750" indent="-285750">
              <a:lnSpc>
                <a:spcPct val="150000"/>
              </a:lnSpc>
              <a:buFont typeface="Arial" panose="020B0604020202020204" pitchFamily="34" charset="0"/>
              <a:buChar char="•"/>
            </a:pPr>
            <a:r>
              <a:rPr lang="en-IN" sz="1600" dirty="0"/>
              <a:t>Provides better accuracy than traditional ML methods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36"/>
        <p:cNvGrpSpPr/>
        <p:nvPr/>
      </p:nvGrpSpPr>
      <p:grpSpPr>
        <a:xfrm>
          <a:off x="0" y="0"/>
          <a:ext cx="0" cy="0"/>
          <a:chOff x="0" y="0"/>
          <a:chExt cx="0" cy="0"/>
        </a:xfrm>
      </p:grpSpPr>
      <p:sp>
        <p:nvSpPr>
          <p:cNvPr id="137" name="Google Shape;137;p26"/>
          <p:cNvSpPr txBox="1"/>
          <p:nvPr/>
        </p:nvSpPr>
        <p:spPr>
          <a:xfrm>
            <a:off x="609480" y="274680"/>
            <a:ext cx="10972800" cy="11430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GB" sz="36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Hardware  &amp; Software Requirements</a:t>
            </a:r>
            <a:endParaRPr sz="4400" b="0" strike="noStrike" dirty="0">
              <a:latin typeface="Arial" panose="020B0604020202020204"/>
              <a:ea typeface="Arial" panose="020B0604020202020204"/>
              <a:cs typeface="Arial" panose="020B0604020202020204"/>
              <a:sym typeface="Arial" panose="020B0604020202020204"/>
            </a:endParaRPr>
          </a:p>
        </p:txBody>
      </p:sp>
      <p:sp>
        <p:nvSpPr>
          <p:cNvPr id="138" name="Google Shape;138;p26"/>
          <p:cNvSpPr txBox="1"/>
          <p:nvPr/>
        </p:nvSpPr>
        <p:spPr>
          <a:xfrm>
            <a:off x="884903" y="1179870"/>
            <a:ext cx="10697377" cy="5604387"/>
          </a:xfrm>
          <a:prstGeom prst="rect">
            <a:avLst/>
          </a:prstGeom>
          <a:noFill/>
          <a:ln>
            <a:noFill/>
          </a:ln>
        </p:spPr>
        <p:txBody>
          <a:bodyPr spcFirstLastPara="1" wrap="square" lIns="91425" tIns="45700" rIns="91425" bIns="45700" anchor="t" anchorCtr="0">
            <a:noAutofit/>
          </a:bodyPr>
          <a:lstStyle/>
          <a:p>
            <a:pPr>
              <a:lnSpc>
                <a:spcPct val="200000"/>
              </a:lnSpc>
            </a:pPr>
            <a:r>
              <a:rPr lang="en-IN" b="1" dirty="0"/>
              <a:t>Software Requirements</a:t>
            </a:r>
          </a:p>
          <a:p>
            <a:pPr marL="342900" indent="-342900">
              <a:lnSpc>
                <a:spcPct val="200000"/>
              </a:lnSpc>
              <a:buFont typeface="Arial" panose="020B0604020202020204" pitchFamily="34" charset="0"/>
              <a:buChar char="•"/>
            </a:pPr>
            <a:r>
              <a:rPr lang="en-IN" dirty="0"/>
              <a:t>Python</a:t>
            </a:r>
          </a:p>
          <a:p>
            <a:pPr marL="342900" indent="-342900">
              <a:lnSpc>
                <a:spcPct val="200000"/>
              </a:lnSpc>
              <a:buFont typeface="Arial" panose="020B0604020202020204" pitchFamily="34" charset="0"/>
              <a:buChar char="•"/>
            </a:pPr>
            <a:r>
              <a:rPr lang="en-IN" dirty="0"/>
              <a:t>TensorFlow / </a:t>
            </a:r>
            <a:r>
              <a:rPr lang="en-IN" dirty="0" err="1"/>
              <a:t>PyTorch</a:t>
            </a:r>
            <a:endParaRPr lang="en-IN" dirty="0"/>
          </a:p>
          <a:p>
            <a:pPr marL="342900" indent="-342900">
              <a:lnSpc>
                <a:spcPct val="200000"/>
              </a:lnSpc>
              <a:buFont typeface="Arial" panose="020B0604020202020204" pitchFamily="34" charset="0"/>
              <a:buChar char="•"/>
            </a:pPr>
            <a:r>
              <a:rPr lang="en-IN" dirty="0"/>
              <a:t>NumPy, Pandas</a:t>
            </a:r>
          </a:p>
          <a:p>
            <a:pPr marL="342900" indent="-342900">
              <a:lnSpc>
                <a:spcPct val="200000"/>
              </a:lnSpc>
              <a:buFont typeface="Arial" panose="020B0604020202020204" pitchFamily="34" charset="0"/>
              <a:buChar char="•"/>
            </a:pPr>
            <a:r>
              <a:rPr lang="en-IN" dirty="0"/>
              <a:t>Matplotlib</a:t>
            </a:r>
          </a:p>
          <a:p>
            <a:pPr marL="342900" indent="-342900">
              <a:lnSpc>
                <a:spcPct val="200000"/>
              </a:lnSpc>
              <a:buFont typeface="Arial" panose="020B0604020202020204" pitchFamily="34" charset="0"/>
              <a:buChar char="•"/>
            </a:pPr>
            <a:r>
              <a:rPr lang="en-IN" dirty="0"/>
              <a:t>Scikit-learn</a:t>
            </a:r>
          </a:p>
          <a:p>
            <a:pPr>
              <a:lnSpc>
                <a:spcPct val="200000"/>
              </a:lnSpc>
            </a:pPr>
            <a:r>
              <a:rPr lang="en-IN" b="1" dirty="0"/>
              <a:t>Platform</a:t>
            </a:r>
          </a:p>
          <a:p>
            <a:pPr marL="342900" indent="-342900">
              <a:lnSpc>
                <a:spcPct val="200000"/>
              </a:lnSpc>
              <a:buFont typeface="Arial" panose="020B0604020202020204" pitchFamily="34" charset="0"/>
              <a:buChar char="•"/>
            </a:pPr>
            <a:r>
              <a:rPr lang="en-IN" dirty="0"/>
              <a:t>Google </a:t>
            </a:r>
            <a:r>
              <a:rPr lang="en-IN" dirty="0" err="1"/>
              <a:t>Colab</a:t>
            </a:r>
            <a:endParaRPr lang="en-IN" dirty="0"/>
          </a:p>
          <a:p>
            <a:pPr marL="342900" indent="-342900">
              <a:lnSpc>
                <a:spcPct val="200000"/>
              </a:lnSpc>
              <a:buFont typeface="Arial" panose="020B0604020202020204" pitchFamily="34" charset="0"/>
              <a:buChar char="•"/>
            </a:pPr>
            <a:r>
              <a:rPr lang="en-IN" dirty="0" err="1"/>
              <a:t>Jupyter</a:t>
            </a:r>
            <a:r>
              <a:rPr lang="en-IN" dirty="0"/>
              <a:t> Notebook</a:t>
            </a:r>
          </a:p>
          <a:p>
            <a:pPr>
              <a:lnSpc>
                <a:spcPct val="200000"/>
              </a:lnSpc>
            </a:pPr>
            <a:r>
              <a:rPr lang="en-IN" b="1" dirty="0"/>
              <a:t>Hardware Requirements</a:t>
            </a:r>
          </a:p>
          <a:p>
            <a:pPr marL="342900" indent="-342900">
              <a:lnSpc>
                <a:spcPct val="200000"/>
              </a:lnSpc>
              <a:buFont typeface="Arial" panose="020B0604020202020204" pitchFamily="34" charset="0"/>
              <a:buChar char="•"/>
            </a:pPr>
            <a:r>
              <a:rPr lang="en-IN" dirty="0"/>
              <a:t>Minimum 8 GB RAM</a:t>
            </a:r>
          </a:p>
          <a:p>
            <a:pPr marL="342900" indent="-342900">
              <a:lnSpc>
                <a:spcPct val="200000"/>
              </a:lnSpc>
              <a:buFont typeface="Arial" panose="020B0604020202020204" pitchFamily="34" charset="0"/>
              <a:buChar char="•"/>
            </a:pPr>
            <a:r>
              <a:rPr lang="en-IN" dirty="0"/>
              <a:t>GPU (recommended for Deep Learning training)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92992-59AF-64DD-757D-316CC7A46175}"/>
              </a:ext>
            </a:extLst>
          </p:cNvPr>
          <p:cNvSpPr>
            <a:spLocks noGrp="1"/>
          </p:cNvSpPr>
          <p:nvPr>
            <p:ph type="title"/>
          </p:nvPr>
        </p:nvSpPr>
        <p:spPr/>
        <p:txBody>
          <a:bodyPr>
            <a:normAutofit/>
          </a:bodyPr>
          <a:lstStyle/>
          <a:p>
            <a:r>
              <a:rPr lang="en-IN" sz="3600" b="1" dirty="0">
                <a:solidFill>
                  <a:srgbClr val="0070C0"/>
                </a:solidFill>
                <a:latin typeface="Times New Roman" panose="02020603050405020304" pitchFamily="18" charset="0"/>
                <a:cs typeface="Times New Roman" panose="02020603050405020304" pitchFamily="18" charset="0"/>
              </a:rPr>
              <a:t>Proposed Approach</a:t>
            </a:r>
          </a:p>
        </p:txBody>
      </p:sp>
      <p:sp>
        <p:nvSpPr>
          <p:cNvPr id="3" name="Subtitle 2">
            <a:extLst>
              <a:ext uri="{FF2B5EF4-FFF2-40B4-BE49-F238E27FC236}">
                <a16:creationId xmlns:a16="http://schemas.microsoft.com/office/drawing/2014/main" id="{8BB4055A-6783-7551-9EE7-352FFD3FD420}"/>
              </a:ext>
            </a:extLst>
          </p:cNvPr>
          <p:cNvSpPr>
            <a:spLocks noGrp="1"/>
          </p:cNvSpPr>
          <p:nvPr>
            <p:ph type="subTitle" idx="1"/>
          </p:nvPr>
        </p:nvSpPr>
        <p:spPr>
          <a:xfrm>
            <a:off x="747491" y="1417680"/>
            <a:ext cx="10972440" cy="5307585"/>
          </a:xfrm>
        </p:spPr>
        <p:txBody>
          <a:bodyPr>
            <a:noAutofit/>
          </a:bodyPr>
          <a:lstStyle/>
          <a:p>
            <a:r>
              <a:rPr lang="en-US" b="1" dirty="0"/>
              <a:t>Step-by-Step Approach</a:t>
            </a:r>
          </a:p>
          <a:p>
            <a:pPr marL="228600" indent="0"/>
            <a:r>
              <a:rPr lang="en-US" b="1" dirty="0"/>
              <a:t>1. Data Collection</a:t>
            </a:r>
            <a:endParaRPr lang="en-US" dirty="0"/>
          </a:p>
          <a:p>
            <a:pPr marL="514350" indent="-285750">
              <a:buFont typeface="Arial" panose="020B0604020202020204" pitchFamily="34" charset="0"/>
              <a:buChar char="•"/>
            </a:pPr>
            <a:r>
              <a:rPr lang="en-US" dirty="0"/>
              <a:t>PPG signals and associated clinical information are collected from a standard medical dataset.</a:t>
            </a:r>
          </a:p>
          <a:p>
            <a:pPr marL="228600" indent="0"/>
            <a:r>
              <a:rPr lang="en-US" b="1" dirty="0"/>
              <a:t>2. Preprocessing</a:t>
            </a:r>
            <a:endParaRPr lang="en-US" dirty="0"/>
          </a:p>
          <a:p>
            <a:pPr marL="514350" indent="-285750">
              <a:buFont typeface="Arial" panose="020B0604020202020204" pitchFamily="34" charset="0"/>
              <a:buChar char="•"/>
            </a:pPr>
            <a:r>
              <a:rPr lang="en-US" dirty="0"/>
              <a:t>Raw PPG signals are converted into numerical form.</a:t>
            </a:r>
          </a:p>
          <a:p>
            <a:pPr marL="514350" indent="-285750">
              <a:buFont typeface="Arial" panose="020B0604020202020204" pitchFamily="34" charset="0"/>
              <a:buChar char="•"/>
            </a:pPr>
            <a:r>
              <a:rPr lang="en-US" dirty="0"/>
              <a:t>Flat, noisy, and invalid signal segments are removed to improve data quality.</a:t>
            </a:r>
          </a:p>
          <a:p>
            <a:pPr marL="228600" indent="0"/>
            <a:r>
              <a:rPr lang="en-US" b="1" dirty="0"/>
              <a:t>3. Signal Segmentation</a:t>
            </a:r>
            <a:endParaRPr lang="en-US" dirty="0"/>
          </a:p>
          <a:p>
            <a:pPr marL="514350" indent="-285750">
              <a:buFont typeface="Arial" panose="020B0604020202020204" pitchFamily="34" charset="0"/>
              <a:buChar char="•"/>
            </a:pPr>
            <a:r>
              <a:rPr lang="en-US" dirty="0"/>
              <a:t>PPG signals are divided into fixed-length segments.</a:t>
            </a:r>
          </a:p>
          <a:p>
            <a:pPr marL="514350" indent="-285750">
              <a:buFont typeface="Arial" panose="020B0604020202020204" pitchFamily="34" charset="0"/>
              <a:buChar char="•"/>
            </a:pPr>
            <a:r>
              <a:rPr lang="en-US" dirty="0"/>
              <a:t>This ensures uniform input size for deep learning models.</a:t>
            </a:r>
          </a:p>
          <a:p>
            <a:pPr marL="228600" indent="0"/>
            <a:r>
              <a:rPr lang="en-US" b="1" dirty="0"/>
              <a:t>4. Model Training</a:t>
            </a:r>
            <a:endParaRPr lang="en-US" dirty="0"/>
          </a:p>
          <a:p>
            <a:pPr marL="514350" indent="-285750">
              <a:buFont typeface="Arial" panose="020B0604020202020204" pitchFamily="34" charset="0"/>
              <a:buChar char="•"/>
            </a:pPr>
            <a:r>
              <a:rPr lang="en-US" dirty="0"/>
              <a:t>A hybrid </a:t>
            </a:r>
            <a:r>
              <a:rPr lang="en-US" b="1" dirty="0"/>
              <a:t>CNN–Bidirectional LSTM with Attention</a:t>
            </a:r>
            <a:r>
              <a:rPr lang="en-US" dirty="0"/>
              <a:t> model is trained on segmented PPG data.</a:t>
            </a:r>
          </a:p>
          <a:p>
            <a:pPr marL="514350" indent="-285750">
              <a:buFont typeface="Arial" panose="020B0604020202020204" pitchFamily="34" charset="0"/>
              <a:buChar char="•"/>
            </a:pPr>
            <a:r>
              <a:rPr lang="en-US" dirty="0"/>
              <a:t>CNN extracts waveform features, </a:t>
            </a:r>
            <a:r>
              <a:rPr lang="en-US" dirty="0" err="1"/>
              <a:t>BiLSTM</a:t>
            </a:r>
            <a:r>
              <a:rPr lang="en-US" dirty="0"/>
              <a:t> captures temporal patterns, and attention highlights important segments.</a:t>
            </a:r>
          </a:p>
          <a:p>
            <a:pPr marL="228600" indent="0"/>
            <a:r>
              <a:rPr lang="en-US" b="1" dirty="0"/>
              <a:t>5. Patient-Level Voting Strategy</a:t>
            </a:r>
            <a:endParaRPr lang="en-US" dirty="0"/>
          </a:p>
          <a:p>
            <a:pPr marL="514350" indent="-285750">
              <a:buFont typeface="Arial" panose="020B0604020202020204" pitchFamily="34" charset="0"/>
              <a:buChar char="•"/>
            </a:pPr>
            <a:r>
              <a:rPr lang="en-US" dirty="0"/>
              <a:t>Segment-level predictions are aggregated at the patient level using </a:t>
            </a:r>
            <a:r>
              <a:rPr lang="en-US" b="1" dirty="0"/>
              <a:t>top-K soft voting</a:t>
            </a:r>
            <a:r>
              <a:rPr lang="en-US" dirty="0"/>
              <a:t>.</a:t>
            </a:r>
          </a:p>
          <a:p>
            <a:pPr marL="514350" indent="-285750">
              <a:buFont typeface="Arial" panose="020B0604020202020204" pitchFamily="34" charset="0"/>
              <a:buChar char="•"/>
            </a:pPr>
            <a:r>
              <a:rPr lang="en-US" dirty="0"/>
              <a:t>An optimized decision threshold is selected to balance sensitivity and specificity.</a:t>
            </a:r>
          </a:p>
          <a:p>
            <a:pPr marL="228600" indent="0"/>
            <a:r>
              <a:rPr lang="en-US" b="1" dirty="0"/>
              <a:t>6. Performance Evaluation</a:t>
            </a:r>
            <a:endParaRPr lang="en-US" dirty="0"/>
          </a:p>
          <a:p>
            <a:pPr marL="514350" indent="-285750">
              <a:buFont typeface="Arial" panose="020B0604020202020204" pitchFamily="34" charset="0"/>
              <a:buChar char="•"/>
            </a:pPr>
            <a:r>
              <a:rPr lang="en-US" dirty="0"/>
              <a:t>The proposed system is evaluated using patient-wise test data.</a:t>
            </a:r>
          </a:p>
          <a:p>
            <a:pPr marL="514350" indent="-285750">
              <a:buFont typeface="Arial" panose="020B0604020202020204" pitchFamily="34" charset="0"/>
              <a:buChar char="•"/>
            </a:pPr>
            <a:r>
              <a:rPr lang="en-US" dirty="0"/>
              <a:t>Performance is measured using accuracy, sensitivity, specificity, F1-score, and ROC-AUC.</a:t>
            </a:r>
            <a:endParaRPr lang="en-IN" dirty="0"/>
          </a:p>
        </p:txBody>
      </p:sp>
    </p:spTree>
    <p:extLst>
      <p:ext uri="{BB962C8B-B14F-4D97-AF65-F5344CB8AC3E}">
        <p14:creationId xmlns:p14="http://schemas.microsoft.com/office/powerpoint/2010/main" val="50236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28B66-5FCA-6B75-BD3C-6C7771B91E8B}"/>
              </a:ext>
            </a:extLst>
          </p:cNvPr>
          <p:cNvSpPr>
            <a:spLocks noGrp="1"/>
          </p:cNvSpPr>
          <p:nvPr>
            <p:ph type="title"/>
          </p:nvPr>
        </p:nvSpPr>
        <p:spPr/>
        <p:txBody>
          <a:bodyPr>
            <a:normAutofit/>
          </a:bodyPr>
          <a:lstStyle/>
          <a:p>
            <a:r>
              <a:rPr lang="en-IN" sz="3600" b="1" dirty="0">
                <a:solidFill>
                  <a:srgbClr val="0070C0"/>
                </a:solidFill>
                <a:latin typeface="Times New Roman" panose="02020603050405020304" pitchFamily="18" charset="0"/>
                <a:cs typeface="Times New Roman" panose="02020603050405020304" pitchFamily="18" charset="0"/>
              </a:rPr>
              <a:t>Experimentation</a:t>
            </a:r>
          </a:p>
        </p:txBody>
      </p:sp>
      <p:sp>
        <p:nvSpPr>
          <p:cNvPr id="3" name="Subtitle 2">
            <a:extLst>
              <a:ext uri="{FF2B5EF4-FFF2-40B4-BE49-F238E27FC236}">
                <a16:creationId xmlns:a16="http://schemas.microsoft.com/office/drawing/2014/main" id="{138F5D8E-35F8-163F-8D19-E416588D49AB}"/>
              </a:ext>
            </a:extLst>
          </p:cNvPr>
          <p:cNvSpPr>
            <a:spLocks noGrp="1"/>
          </p:cNvSpPr>
          <p:nvPr>
            <p:ph type="subTitle" idx="1"/>
          </p:nvPr>
        </p:nvSpPr>
        <p:spPr>
          <a:xfrm>
            <a:off x="825910" y="1268361"/>
            <a:ext cx="10756010" cy="5589639"/>
          </a:xfrm>
        </p:spPr>
        <p:txBody>
          <a:bodyPr>
            <a:normAutofit/>
          </a:bodyPr>
          <a:lstStyle/>
          <a:p>
            <a:pPr>
              <a:lnSpc>
                <a:spcPct val="150000"/>
              </a:lnSpc>
            </a:pPr>
            <a:r>
              <a:rPr lang="en-IN" b="1" dirty="0"/>
              <a:t>Experimental Setup</a:t>
            </a:r>
          </a:p>
          <a:p>
            <a:pPr marL="514350" indent="-285750">
              <a:lnSpc>
                <a:spcPct val="150000"/>
              </a:lnSpc>
              <a:buFont typeface="Arial" panose="020B0604020202020204" pitchFamily="34" charset="0"/>
              <a:buChar char="•"/>
            </a:pPr>
            <a:r>
              <a:rPr lang="en-IN" dirty="0"/>
              <a:t>Dataset: </a:t>
            </a:r>
            <a:r>
              <a:rPr lang="en-IN" b="1" dirty="0"/>
              <a:t>MIMIC-III PPG signals</a:t>
            </a:r>
            <a:endParaRPr lang="en-IN" dirty="0"/>
          </a:p>
          <a:p>
            <a:pPr marL="514350" indent="-285750">
              <a:lnSpc>
                <a:spcPct val="150000"/>
              </a:lnSpc>
              <a:buFont typeface="Arial" panose="020B0604020202020204" pitchFamily="34" charset="0"/>
              <a:buChar char="•"/>
            </a:pPr>
            <a:r>
              <a:rPr lang="en-IN" dirty="0"/>
              <a:t>Task: </a:t>
            </a:r>
            <a:r>
              <a:rPr lang="en-IN" b="1" dirty="0"/>
              <a:t>Binary classification (CAD / Non-CAD)</a:t>
            </a:r>
            <a:endParaRPr lang="en-IN" dirty="0"/>
          </a:p>
          <a:p>
            <a:pPr marL="514350" indent="-285750">
              <a:lnSpc>
                <a:spcPct val="150000"/>
              </a:lnSpc>
              <a:buFont typeface="Arial" panose="020B0604020202020204" pitchFamily="34" charset="0"/>
              <a:buChar char="•"/>
            </a:pPr>
            <a:r>
              <a:rPr lang="en-IN" dirty="0"/>
              <a:t>Input: Pre-processed and segmented PPG signal windows</a:t>
            </a:r>
          </a:p>
          <a:p>
            <a:pPr>
              <a:lnSpc>
                <a:spcPct val="150000"/>
              </a:lnSpc>
            </a:pPr>
            <a:r>
              <a:rPr lang="en-IN" b="1" dirty="0"/>
              <a:t>Experiments Performed</a:t>
            </a:r>
          </a:p>
          <a:p>
            <a:pPr>
              <a:lnSpc>
                <a:spcPct val="150000"/>
              </a:lnSpc>
            </a:pPr>
            <a:r>
              <a:rPr lang="en-IN" b="1" dirty="0"/>
              <a:t>Experiment 1 – CNN Model</a:t>
            </a:r>
            <a:endParaRPr lang="en-IN" dirty="0"/>
          </a:p>
          <a:p>
            <a:pPr marL="971550" lvl="1" indent="-285750">
              <a:lnSpc>
                <a:spcPct val="150000"/>
              </a:lnSpc>
              <a:buFont typeface="Arial" panose="020B0604020202020204" pitchFamily="34" charset="0"/>
              <a:buChar char="•"/>
            </a:pPr>
            <a:r>
              <a:rPr lang="en-IN" dirty="0"/>
              <a:t>Extracts spatial and morphological features from PPG signals.</a:t>
            </a:r>
          </a:p>
          <a:p>
            <a:pPr marL="971550" lvl="1" indent="-285750">
              <a:lnSpc>
                <a:spcPct val="150000"/>
              </a:lnSpc>
              <a:buFont typeface="Arial" panose="020B0604020202020204" pitchFamily="34" charset="0"/>
              <a:buChar char="•"/>
            </a:pPr>
            <a:r>
              <a:rPr lang="en-IN" dirty="0"/>
              <a:t>Provided strong baseline performance.</a:t>
            </a:r>
          </a:p>
          <a:p>
            <a:pPr>
              <a:lnSpc>
                <a:spcPct val="150000"/>
              </a:lnSpc>
            </a:pPr>
            <a:r>
              <a:rPr lang="en-IN" b="1" dirty="0"/>
              <a:t>Experiment 2 – LSTM Model</a:t>
            </a:r>
            <a:endParaRPr lang="en-IN" dirty="0"/>
          </a:p>
          <a:p>
            <a:pPr marL="971550" lvl="1" indent="-285750">
              <a:lnSpc>
                <a:spcPct val="150000"/>
              </a:lnSpc>
              <a:buFont typeface="Arial" panose="020B0604020202020204" pitchFamily="34" charset="0"/>
              <a:buChar char="•"/>
            </a:pPr>
            <a:r>
              <a:rPr lang="en-IN" dirty="0"/>
              <a:t>Captures temporal dependencies in PPG time-series data.</a:t>
            </a:r>
          </a:p>
          <a:p>
            <a:pPr marL="971550" lvl="1" indent="-285750">
              <a:lnSpc>
                <a:spcPct val="150000"/>
              </a:lnSpc>
              <a:buFont typeface="Arial" panose="020B0604020202020204" pitchFamily="34" charset="0"/>
              <a:buChar char="•"/>
            </a:pPr>
            <a:r>
              <a:rPr lang="en-IN" dirty="0"/>
              <a:t>Improved learning of long-term signal patterns.</a:t>
            </a:r>
          </a:p>
          <a:p>
            <a:pPr>
              <a:lnSpc>
                <a:spcPct val="150000"/>
              </a:lnSpc>
            </a:pPr>
            <a:endParaRPr lang="en-IN" dirty="0"/>
          </a:p>
        </p:txBody>
      </p:sp>
    </p:spTree>
    <p:extLst>
      <p:ext uri="{BB962C8B-B14F-4D97-AF65-F5344CB8AC3E}">
        <p14:creationId xmlns:p14="http://schemas.microsoft.com/office/powerpoint/2010/main" val="627441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593D0-D48D-41B3-55D2-5CD06C96299D}"/>
              </a:ext>
            </a:extLst>
          </p:cNvPr>
          <p:cNvSpPr>
            <a:spLocks noGrp="1"/>
          </p:cNvSpPr>
          <p:nvPr>
            <p:ph type="title"/>
          </p:nvPr>
        </p:nvSpPr>
        <p:spPr/>
        <p:txBody>
          <a:bodyPr/>
          <a:lstStyle/>
          <a:p>
            <a:r>
              <a:rPr kumimoji="0" lang="en-IN" sz="3600" b="1" i="0" u="none" strike="noStrike" kern="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sym typeface="Arial" panose="020B0604020202020204"/>
              </a:rPr>
              <a:t>Experimentation</a:t>
            </a:r>
            <a:endParaRPr lang="en-IN" dirty="0"/>
          </a:p>
        </p:txBody>
      </p:sp>
      <p:sp>
        <p:nvSpPr>
          <p:cNvPr id="3" name="Subtitle 2">
            <a:extLst>
              <a:ext uri="{FF2B5EF4-FFF2-40B4-BE49-F238E27FC236}">
                <a16:creationId xmlns:a16="http://schemas.microsoft.com/office/drawing/2014/main" id="{52937633-4552-9C1A-8A90-CBEF4B529119}"/>
              </a:ext>
            </a:extLst>
          </p:cNvPr>
          <p:cNvSpPr>
            <a:spLocks noGrp="1"/>
          </p:cNvSpPr>
          <p:nvPr>
            <p:ph type="subTitle" idx="1"/>
          </p:nvPr>
        </p:nvSpPr>
        <p:spPr>
          <a:xfrm>
            <a:off x="609480" y="1604520"/>
            <a:ext cx="10972440" cy="5253480"/>
          </a:xfrm>
        </p:spPr>
        <p:txBody>
          <a:bodyPr>
            <a:normAutofit/>
          </a:bodyPr>
          <a:lstStyle/>
          <a:p>
            <a:pPr>
              <a:lnSpc>
                <a:spcPct val="200000"/>
              </a:lnSpc>
            </a:pPr>
            <a:r>
              <a:rPr lang="en-IN" b="1" dirty="0"/>
              <a:t>Experiment 3 – Ensemble Model (CNN + LSTM)</a:t>
            </a:r>
            <a:endParaRPr lang="en-IN" dirty="0"/>
          </a:p>
          <a:p>
            <a:pPr marL="971550" lvl="1" indent="-285750">
              <a:lnSpc>
                <a:spcPct val="200000"/>
              </a:lnSpc>
              <a:buFont typeface="Arial" panose="020B0604020202020204" pitchFamily="34" charset="0"/>
              <a:buChar char="•"/>
            </a:pPr>
            <a:r>
              <a:rPr lang="en-IN" dirty="0"/>
              <a:t>Combined CNN and LSTM predictions using </a:t>
            </a:r>
            <a:r>
              <a:rPr lang="en-US" b="1" dirty="0"/>
              <a:t>top-K soft voting</a:t>
            </a:r>
            <a:r>
              <a:rPr lang="en-IN" dirty="0"/>
              <a:t>.</a:t>
            </a:r>
          </a:p>
          <a:p>
            <a:pPr marL="971550" lvl="1" indent="-285750">
              <a:lnSpc>
                <a:spcPct val="200000"/>
              </a:lnSpc>
              <a:buFont typeface="Arial" panose="020B0604020202020204" pitchFamily="34" charset="0"/>
              <a:buChar char="•"/>
            </a:pPr>
            <a:r>
              <a:rPr lang="en-IN" dirty="0"/>
              <a:t>Reduced individual model errors and improved robustness.</a:t>
            </a:r>
          </a:p>
          <a:p>
            <a:pPr>
              <a:lnSpc>
                <a:spcPct val="200000"/>
              </a:lnSpc>
            </a:pPr>
            <a:r>
              <a:rPr lang="en-IN" b="1" dirty="0"/>
              <a:t>Evaluation &amp; Outcome</a:t>
            </a:r>
          </a:p>
          <a:p>
            <a:pPr marL="514350" indent="-285750">
              <a:lnSpc>
                <a:spcPct val="200000"/>
              </a:lnSpc>
              <a:buFont typeface="Arial" panose="020B0604020202020204" pitchFamily="34" charset="0"/>
              <a:buChar char="•"/>
            </a:pPr>
            <a:r>
              <a:rPr lang="en-IN" dirty="0"/>
              <a:t>Metrics used: Accuracy, Sensitivity, Specificity, F1-score, ROC-AUC</a:t>
            </a:r>
          </a:p>
          <a:p>
            <a:pPr>
              <a:lnSpc>
                <a:spcPct val="200000"/>
              </a:lnSpc>
            </a:pPr>
            <a:r>
              <a:rPr lang="en-IN" b="1" dirty="0"/>
              <a:t>Best Model:</a:t>
            </a:r>
            <a:r>
              <a:rPr lang="en-IN" dirty="0"/>
              <a:t> Ensemble (CNN + LSTM)</a:t>
            </a:r>
          </a:p>
          <a:p>
            <a:pPr>
              <a:lnSpc>
                <a:spcPct val="200000"/>
              </a:lnSpc>
            </a:pPr>
            <a:r>
              <a:rPr lang="en-IN" b="1" dirty="0"/>
              <a:t>Final Performance:</a:t>
            </a:r>
            <a:endParaRPr lang="en-IN" dirty="0"/>
          </a:p>
          <a:p>
            <a:pPr marL="971550" lvl="1" indent="-285750">
              <a:lnSpc>
                <a:spcPct val="200000"/>
              </a:lnSpc>
              <a:buFont typeface="Arial" panose="020B0604020202020204" pitchFamily="34" charset="0"/>
              <a:buChar char="•"/>
            </a:pPr>
            <a:r>
              <a:rPr lang="en-IN" dirty="0"/>
              <a:t>Accuracy: </a:t>
            </a:r>
            <a:r>
              <a:rPr lang="en-IN" b="1" dirty="0"/>
              <a:t>85.16%</a:t>
            </a:r>
            <a:endParaRPr lang="en-IN" dirty="0"/>
          </a:p>
          <a:p>
            <a:pPr marL="971550" lvl="1" indent="-285750">
              <a:lnSpc>
                <a:spcPct val="200000"/>
              </a:lnSpc>
              <a:buFont typeface="Arial" panose="020B0604020202020204" pitchFamily="34" charset="0"/>
              <a:buChar char="•"/>
            </a:pPr>
            <a:r>
              <a:rPr lang="en-IN" dirty="0"/>
              <a:t>ROC-AUC: </a:t>
            </a:r>
            <a:r>
              <a:rPr lang="en-IN" b="1" dirty="0"/>
              <a:t>92.25%</a:t>
            </a:r>
            <a:endParaRPr lang="en-IN" dirty="0"/>
          </a:p>
          <a:p>
            <a:pPr>
              <a:lnSpc>
                <a:spcPct val="200000"/>
              </a:lnSpc>
            </a:pPr>
            <a:endParaRPr lang="en-IN" dirty="0"/>
          </a:p>
        </p:txBody>
      </p:sp>
    </p:spTree>
    <p:extLst>
      <p:ext uri="{BB962C8B-B14F-4D97-AF65-F5344CB8AC3E}">
        <p14:creationId xmlns:p14="http://schemas.microsoft.com/office/powerpoint/2010/main" val="2861288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D37B8-01DA-518F-D1AD-F89C6B93692B}"/>
              </a:ext>
            </a:extLst>
          </p:cNvPr>
          <p:cNvSpPr>
            <a:spLocks noGrp="1"/>
          </p:cNvSpPr>
          <p:nvPr>
            <p:ph type="title"/>
          </p:nvPr>
        </p:nvSpPr>
        <p:spPr/>
        <p:txBody>
          <a:bodyPr>
            <a:normAutofit/>
          </a:bodyPr>
          <a:lstStyle/>
          <a:p>
            <a:r>
              <a:rPr lang="en-IN" sz="3600" b="1" dirty="0">
                <a:solidFill>
                  <a:srgbClr val="0070C0"/>
                </a:solidFill>
                <a:latin typeface="Times New Roman" panose="02020603050405020304" pitchFamily="18" charset="0"/>
                <a:cs typeface="Times New Roman" panose="02020603050405020304" pitchFamily="18" charset="0"/>
              </a:rPr>
              <a:t>Model Performance &amp; Results</a:t>
            </a:r>
          </a:p>
        </p:txBody>
      </p:sp>
      <p:sp>
        <p:nvSpPr>
          <p:cNvPr id="3" name="Subtitle 2">
            <a:extLst>
              <a:ext uri="{FF2B5EF4-FFF2-40B4-BE49-F238E27FC236}">
                <a16:creationId xmlns:a16="http://schemas.microsoft.com/office/drawing/2014/main" id="{21AF3B9D-2523-75F3-7553-DD0493E63374}"/>
              </a:ext>
            </a:extLst>
          </p:cNvPr>
          <p:cNvSpPr>
            <a:spLocks noGrp="1"/>
          </p:cNvSpPr>
          <p:nvPr>
            <p:ph type="subTitle" idx="1"/>
          </p:nvPr>
        </p:nvSpPr>
        <p:spPr>
          <a:xfrm>
            <a:off x="609480" y="1604520"/>
            <a:ext cx="10972440" cy="5140410"/>
          </a:xfrm>
        </p:spPr>
        <p:txBody>
          <a:bodyPr>
            <a:normAutofit fontScale="92500" lnSpcReduction="20000"/>
          </a:bodyPr>
          <a:lstStyle/>
          <a:p>
            <a:pPr marL="228600" indent="0">
              <a:lnSpc>
                <a:spcPct val="250000"/>
              </a:lnSpc>
            </a:pPr>
            <a:r>
              <a:rPr lang="en-US" sz="2900" b="1" dirty="0"/>
              <a:t>Final Model Results</a:t>
            </a:r>
          </a:p>
          <a:p>
            <a:pPr marL="228600" indent="0">
              <a:lnSpc>
                <a:spcPct val="200000"/>
              </a:lnSpc>
            </a:pPr>
            <a:r>
              <a:rPr lang="en-US" sz="2100" dirty="0"/>
              <a:t>The ensemble deep learning model produced the</a:t>
            </a:r>
          </a:p>
          <a:p>
            <a:pPr marL="228600" indent="0">
              <a:lnSpc>
                <a:spcPct val="200000"/>
              </a:lnSpc>
            </a:pPr>
            <a:r>
              <a:rPr lang="en-US" sz="2100" dirty="0"/>
              <a:t> following results:</a:t>
            </a:r>
          </a:p>
          <a:p>
            <a:pPr marL="514350" indent="-285750">
              <a:lnSpc>
                <a:spcPct val="200000"/>
              </a:lnSpc>
              <a:buFont typeface="Arial" panose="020B0604020202020204" pitchFamily="34" charset="0"/>
              <a:buChar char="•"/>
            </a:pPr>
            <a:r>
              <a:rPr lang="en-US" sz="2100" b="1" dirty="0"/>
              <a:t>Accuracy:</a:t>
            </a:r>
            <a:r>
              <a:rPr lang="en-US" sz="2100" dirty="0"/>
              <a:t> 87.01%</a:t>
            </a:r>
          </a:p>
          <a:p>
            <a:pPr marL="514350" indent="-285750">
              <a:lnSpc>
                <a:spcPct val="200000"/>
              </a:lnSpc>
              <a:buFont typeface="Arial" panose="020B0604020202020204" pitchFamily="34" charset="0"/>
              <a:buChar char="•"/>
            </a:pPr>
            <a:r>
              <a:rPr lang="en-US" sz="2100" b="1" dirty="0"/>
              <a:t>Sensitivity (Recall):</a:t>
            </a:r>
            <a:r>
              <a:rPr lang="en-US" sz="2100" dirty="0"/>
              <a:t> 85.95%</a:t>
            </a:r>
          </a:p>
          <a:p>
            <a:pPr marL="514350" indent="-285750">
              <a:lnSpc>
                <a:spcPct val="200000"/>
              </a:lnSpc>
              <a:buFont typeface="Arial" panose="020B0604020202020204" pitchFamily="34" charset="0"/>
              <a:buChar char="•"/>
            </a:pPr>
            <a:r>
              <a:rPr lang="en-US" sz="2100" b="1" dirty="0"/>
              <a:t>Specificity:</a:t>
            </a:r>
            <a:r>
              <a:rPr lang="en-US" sz="2100" dirty="0"/>
              <a:t> 87.97%</a:t>
            </a:r>
          </a:p>
          <a:p>
            <a:pPr marL="514350" indent="-285750">
              <a:lnSpc>
                <a:spcPct val="200000"/>
              </a:lnSpc>
              <a:buFont typeface="Arial" panose="020B0604020202020204" pitchFamily="34" charset="0"/>
              <a:buChar char="•"/>
            </a:pPr>
            <a:r>
              <a:rPr lang="en-US" sz="2100" b="1" dirty="0"/>
              <a:t>Precision:</a:t>
            </a:r>
            <a:r>
              <a:rPr lang="en-US" sz="2100" dirty="0"/>
              <a:t> 86.67%</a:t>
            </a:r>
          </a:p>
          <a:p>
            <a:pPr marL="514350" indent="-285750">
              <a:lnSpc>
                <a:spcPct val="200000"/>
              </a:lnSpc>
              <a:buFont typeface="Arial" panose="020B0604020202020204" pitchFamily="34" charset="0"/>
              <a:buChar char="•"/>
            </a:pPr>
            <a:r>
              <a:rPr lang="en-US" sz="2100" b="1" dirty="0"/>
              <a:t>F1-Score:</a:t>
            </a:r>
            <a:r>
              <a:rPr lang="en-US" sz="2100" dirty="0"/>
              <a:t> 86.31%</a:t>
            </a:r>
          </a:p>
          <a:p>
            <a:pPr marL="514350" indent="-285750">
              <a:lnSpc>
                <a:spcPct val="200000"/>
              </a:lnSpc>
              <a:buFont typeface="Arial" panose="020B0604020202020204" pitchFamily="34" charset="0"/>
              <a:buChar char="•"/>
            </a:pPr>
            <a:r>
              <a:rPr lang="en-US" sz="2100" b="1" dirty="0"/>
              <a:t>ROC-AUC:</a:t>
            </a:r>
            <a:r>
              <a:rPr lang="en-US" sz="2100" dirty="0"/>
              <a:t> 95.28%</a:t>
            </a:r>
          </a:p>
          <a:p>
            <a:pPr marL="514350" indent="-285750">
              <a:lnSpc>
                <a:spcPct val="250000"/>
              </a:lnSpc>
              <a:buFont typeface="Arial" panose="020B0604020202020204" pitchFamily="34" charset="0"/>
              <a:buChar char="•"/>
            </a:pPr>
            <a:endParaRPr lang="en-IN" dirty="0"/>
          </a:p>
        </p:txBody>
      </p:sp>
      <p:pic>
        <p:nvPicPr>
          <p:cNvPr id="5" name="Picture 4">
            <a:extLst>
              <a:ext uri="{FF2B5EF4-FFF2-40B4-BE49-F238E27FC236}">
                <a16:creationId xmlns:a16="http://schemas.microsoft.com/office/drawing/2014/main" id="{8DD3E8F3-C5DF-FDD4-F2D2-6AD4979DB757}"/>
              </a:ext>
            </a:extLst>
          </p:cNvPr>
          <p:cNvPicPr>
            <a:picLocks noChangeAspect="1"/>
          </p:cNvPicPr>
          <p:nvPr/>
        </p:nvPicPr>
        <p:blipFill>
          <a:blip r:embed="rId2"/>
          <a:stretch>
            <a:fillRect/>
          </a:stretch>
        </p:blipFill>
        <p:spPr>
          <a:xfrm>
            <a:off x="6538451" y="1956619"/>
            <a:ext cx="5299107" cy="4626701"/>
          </a:xfrm>
          <a:prstGeom prst="rect">
            <a:avLst/>
          </a:prstGeom>
          <a:ln>
            <a:noFill/>
          </a:ln>
          <a:effectLst>
            <a:softEdge rad="112500"/>
          </a:effectLst>
        </p:spPr>
      </p:pic>
    </p:spTree>
    <p:extLst>
      <p:ext uri="{BB962C8B-B14F-4D97-AF65-F5344CB8AC3E}">
        <p14:creationId xmlns:p14="http://schemas.microsoft.com/office/powerpoint/2010/main" val="1530907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38A07-26F5-DA5D-E5A6-53058370E5F0}"/>
              </a:ext>
            </a:extLst>
          </p:cNvPr>
          <p:cNvSpPr>
            <a:spLocks noGrp="1"/>
          </p:cNvSpPr>
          <p:nvPr>
            <p:ph type="title"/>
          </p:nvPr>
        </p:nvSpPr>
        <p:spPr/>
        <p:txBody>
          <a:bodyPr>
            <a:normAutofit/>
          </a:bodyPr>
          <a:lstStyle/>
          <a:p>
            <a:r>
              <a:rPr lang="en-IN" sz="3600" b="1" dirty="0">
                <a:solidFill>
                  <a:srgbClr val="0070C0"/>
                </a:solidFill>
                <a:latin typeface="Times New Roman" panose="02020603050405020304" pitchFamily="18" charset="0"/>
                <a:cs typeface="Times New Roman" panose="02020603050405020304" pitchFamily="18" charset="0"/>
              </a:rPr>
              <a:t>Result Interpretation</a:t>
            </a:r>
          </a:p>
        </p:txBody>
      </p:sp>
      <p:sp>
        <p:nvSpPr>
          <p:cNvPr id="3" name="Subtitle 2">
            <a:extLst>
              <a:ext uri="{FF2B5EF4-FFF2-40B4-BE49-F238E27FC236}">
                <a16:creationId xmlns:a16="http://schemas.microsoft.com/office/drawing/2014/main" id="{76669229-82DD-64AB-E16C-2B0FE849B526}"/>
              </a:ext>
            </a:extLst>
          </p:cNvPr>
          <p:cNvSpPr>
            <a:spLocks noGrp="1"/>
          </p:cNvSpPr>
          <p:nvPr>
            <p:ph type="subTitle" idx="1"/>
          </p:nvPr>
        </p:nvSpPr>
        <p:spPr>
          <a:xfrm>
            <a:off x="815957" y="1634016"/>
            <a:ext cx="10972440" cy="3977280"/>
          </a:xfrm>
        </p:spPr>
        <p:txBody>
          <a:bodyPr/>
          <a:lstStyle/>
          <a:p>
            <a:pPr marL="228600" indent="0">
              <a:lnSpc>
                <a:spcPct val="200000"/>
              </a:lnSpc>
            </a:pPr>
            <a:r>
              <a:rPr lang="en-US" b="1" dirty="0"/>
              <a:t>Result Analysis</a:t>
            </a:r>
          </a:p>
          <a:p>
            <a:pPr marL="514350" indent="-285750">
              <a:lnSpc>
                <a:spcPct val="200000"/>
              </a:lnSpc>
              <a:buFont typeface="Arial" panose="020B0604020202020204" pitchFamily="34" charset="0"/>
              <a:buChar char="•"/>
            </a:pPr>
            <a:r>
              <a:rPr lang="en-US" dirty="0"/>
              <a:t>High </a:t>
            </a:r>
            <a:r>
              <a:rPr lang="en-US" b="1" dirty="0"/>
              <a:t>ROC-AUC (95.28%)</a:t>
            </a:r>
            <a:r>
              <a:rPr lang="en-US" dirty="0"/>
              <a:t> indicates strong class separation.</a:t>
            </a:r>
          </a:p>
          <a:p>
            <a:pPr marL="514350" indent="-285750">
              <a:lnSpc>
                <a:spcPct val="200000"/>
              </a:lnSpc>
              <a:buFont typeface="Arial" panose="020B0604020202020204" pitchFamily="34" charset="0"/>
              <a:buChar char="•"/>
            </a:pPr>
            <a:r>
              <a:rPr lang="en-US" dirty="0"/>
              <a:t>High </a:t>
            </a:r>
            <a:r>
              <a:rPr lang="en-US" b="1" dirty="0"/>
              <a:t>Sensitivity</a:t>
            </a:r>
            <a:r>
              <a:rPr lang="en-US" dirty="0"/>
              <a:t> shows effective detection of CAD patients.</a:t>
            </a:r>
          </a:p>
          <a:p>
            <a:pPr marL="514350" indent="-285750">
              <a:lnSpc>
                <a:spcPct val="200000"/>
              </a:lnSpc>
              <a:buFont typeface="Arial" panose="020B0604020202020204" pitchFamily="34" charset="0"/>
              <a:buChar char="•"/>
            </a:pPr>
            <a:r>
              <a:rPr lang="en-US" dirty="0"/>
              <a:t>Balanced </a:t>
            </a:r>
            <a:r>
              <a:rPr lang="en-US" b="1" dirty="0"/>
              <a:t>Specificity</a:t>
            </a:r>
            <a:r>
              <a:rPr lang="en-US" dirty="0"/>
              <a:t> reduces false CAD predictions.</a:t>
            </a:r>
          </a:p>
          <a:p>
            <a:pPr marL="514350" indent="-285750">
              <a:lnSpc>
                <a:spcPct val="200000"/>
              </a:lnSpc>
              <a:buFont typeface="Arial" panose="020B0604020202020204" pitchFamily="34" charset="0"/>
              <a:buChar char="•"/>
            </a:pPr>
            <a:r>
              <a:rPr lang="en-US" b="1" dirty="0"/>
              <a:t>F1-Score</a:t>
            </a:r>
            <a:r>
              <a:rPr lang="en-US" dirty="0"/>
              <a:t> confirms good balance between precision and</a:t>
            </a:r>
          </a:p>
          <a:p>
            <a:pPr marL="228600" indent="0">
              <a:lnSpc>
                <a:spcPct val="200000"/>
              </a:lnSpc>
            </a:pPr>
            <a:r>
              <a:rPr lang="en-US" dirty="0"/>
              <a:t> recall.</a:t>
            </a:r>
          </a:p>
          <a:p>
            <a:pPr marL="228600" indent="0">
              <a:lnSpc>
                <a:spcPct val="200000"/>
              </a:lnSpc>
            </a:pPr>
            <a:endParaRPr lang="en-IN" dirty="0"/>
          </a:p>
        </p:txBody>
      </p:sp>
      <p:pic>
        <p:nvPicPr>
          <p:cNvPr id="5" name="Picture 4">
            <a:extLst>
              <a:ext uri="{FF2B5EF4-FFF2-40B4-BE49-F238E27FC236}">
                <a16:creationId xmlns:a16="http://schemas.microsoft.com/office/drawing/2014/main" id="{C134FAA0-CBF9-AD5F-C265-5DFB25DEE404}"/>
              </a:ext>
            </a:extLst>
          </p:cNvPr>
          <p:cNvPicPr>
            <a:picLocks noChangeAspect="1"/>
          </p:cNvPicPr>
          <p:nvPr/>
        </p:nvPicPr>
        <p:blipFill>
          <a:blip r:embed="rId2"/>
          <a:stretch>
            <a:fillRect/>
          </a:stretch>
        </p:blipFill>
        <p:spPr>
          <a:xfrm>
            <a:off x="7639665" y="1634016"/>
            <a:ext cx="4375359" cy="4949304"/>
          </a:xfrm>
          <a:prstGeom prst="rect">
            <a:avLst/>
          </a:prstGeom>
          <a:ln>
            <a:noFill/>
          </a:ln>
          <a:effectLst>
            <a:softEdge rad="112500"/>
          </a:effectLst>
        </p:spPr>
      </p:pic>
    </p:spTree>
    <p:extLst>
      <p:ext uri="{BB962C8B-B14F-4D97-AF65-F5344CB8AC3E}">
        <p14:creationId xmlns:p14="http://schemas.microsoft.com/office/powerpoint/2010/main" val="1049487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066BB-F3F0-68AC-C2BB-2AE390A4EDD3}"/>
              </a:ext>
            </a:extLst>
          </p:cNvPr>
          <p:cNvSpPr>
            <a:spLocks noGrp="1"/>
          </p:cNvSpPr>
          <p:nvPr>
            <p:ph type="title"/>
          </p:nvPr>
        </p:nvSpPr>
        <p:spPr/>
        <p:txBody>
          <a:bodyPr>
            <a:normAutofit/>
          </a:bodyPr>
          <a:lstStyle/>
          <a:p>
            <a:r>
              <a:rPr lang="en-IN" sz="3600" b="1" dirty="0">
                <a:solidFill>
                  <a:srgbClr val="0070C0"/>
                </a:solidFill>
                <a:latin typeface="Times New Roman" panose="02020603050405020304" pitchFamily="18" charset="0"/>
                <a:cs typeface="Times New Roman" panose="02020603050405020304" pitchFamily="18" charset="0"/>
              </a:rPr>
              <a:t>Confusion Matrix Analysis</a:t>
            </a:r>
          </a:p>
        </p:txBody>
      </p:sp>
      <p:sp>
        <p:nvSpPr>
          <p:cNvPr id="3" name="Subtitle 2">
            <a:extLst>
              <a:ext uri="{FF2B5EF4-FFF2-40B4-BE49-F238E27FC236}">
                <a16:creationId xmlns:a16="http://schemas.microsoft.com/office/drawing/2014/main" id="{AC261A90-58BA-DDBB-1D46-DF0CE87D0108}"/>
              </a:ext>
            </a:extLst>
          </p:cNvPr>
          <p:cNvSpPr>
            <a:spLocks noGrp="1"/>
          </p:cNvSpPr>
          <p:nvPr>
            <p:ph type="subTitle" idx="1"/>
          </p:nvPr>
        </p:nvSpPr>
        <p:spPr>
          <a:xfrm>
            <a:off x="904448" y="1506197"/>
            <a:ext cx="10972440" cy="5150241"/>
          </a:xfrm>
        </p:spPr>
        <p:txBody>
          <a:bodyPr>
            <a:normAutofit/>
          </a:bodyPr>
          <a:lstStyle/>
          <a:p>
            <a:pPr>
              <a:lnSpc>
                <a:spcPct val="200000"/>
              </a:lnSpc>
            </a:pPr>
            <a:r>
              <a:rPr lang="en-US" b="1" dirty="0"/>
              <a:t>Confusion Matrix</a:t>
            </a:r>
          </a:p>
          <a:p>
            <a:pPr>
              <a:lnSpc>
                <a:spcPct val="200000"/>
              </a:lnSpc>
            </a:pPr>
            <a:r>
              <a:rPr lang="en-US" dirty="0"/>
              <a:t>            [[117   16]</a:t>
            </a:r>
          </a:p>
          <a:p>
            <a:pPr>
              <a:lnSpc>
                <a:spcPct val="200000"/>
              </a:lnSpc>
            </a:pPr>
            <a:r>
              <a:rPr lang="en-US" dirty="0"/>
              <a:t>            [ 17  104]]</a:t>
            </a:r>
          </a:p>
          <a:p>
            <a:pPr>
              <a:lnSpc>
                <a:spcPct val="200000"/>
              </a:lnSpc>
            </a:pPr>
            <a:r>
              <a:rPr lang="en-US" b="1" dirty="0"/>
              <a:t>Explanation:</a:t>
            </a:r>
          </a:p>
          <a:p>
            <a:pPr marL="514350" indent="-285750">
              <a:lnSpc>
                <a:spcPct val="200000"/>
              </a:lnSpc>
              <a:buFont typeface="Arial" panose="020B0604020202020204" pitchFamily="34" charset="0"/>
              <a:buChar char="•"/>
            </a:pPr>
            <a:r>
              <a:rPr lang="en-US" b="1" dirty="0"/>
              <a:t>True Positives (104):</a:t>
            </a:r>
            <a:r>
              <a:rPr lang="en-US" dirty="0"/>
              <a:t> Correctly detected CAD cases.</a:t>
            </a:r>
          </a:p>
          <a:p>
            <a:pPr marL="514350" indent="-285750">
              <a:lnSpc>
                <a:spcPct val="200000"/>
              </a:lnSpc>
              <a:buFont typeface="Arial" panose="020B0604020202020204" pitchFamily="34" charset="0"/>
              <a:buChar char="•"/>
            </a:pPr>
            <a:r>
              <a:rPr lang="en-US" b="1" dirty="0"/>
              <a:t>True Negatives (117):</a:t>
            </a:r>
            <a:r>
              <a:rPr lang="en-US" dirty="0"/>
              <a:t> Correctly detected non-CAD cases.</a:t>
            </a:r>
          </a:p>
          <a:p>
            <a:pPr marL="514350" indent="-285750">
              <a:lnSpc>
                <a:spcPct val="200000"/>
              </a:lnSpc>
              <a:buFont typeface="Arial" panose="020B0604020202020204" pitchFamily="34" charset="0"/>
              <a:buChar char="•"/>
            </a:pPr>
            <a:r>
              <a:rPr lang="en-US" b="1" dirty="0"/>
              <a:t>False Positives (16):</a:t>
            </a:r>
            <a:r>
              <a:rPr lang="en-US" dirty="0"/>
              <a:t> Healthy cases predicted as CAD.</a:t>
            </a:r>
          </a:p>
          <a:p>
            <a:pPr marL="514350" indent="-285750">
              <a:lnSpc>
                <a:spcPct val="200000"/>
              </a:lnSpc>
              <a:buFont typeface="Arial" panose="020B0604020202020204" pitchFamily="34" charset="0"/>
              <a:buChar char="•"/>
            </a:pPr>
            <a:r>
              <a:rPr lang="en-US" b="1" dirty="0"/>
              <a:t>False Negatives (17):</a:t>
            </a:r>
            <a:r>
              <a:rPr lang="en-US" dirty="0"/>
              <a:t> CAD cases missed by the model.</a:t>
            </a:r>
          </a:p>
          <a:p>
            <a:pPr>
              <a:lnSpc>
                <a:spcPct val="200000"/>
              </a:lnSpc>
            </a:pPr>
            <a:endParaRPr lang="en-IN" dirty="0"/>
          </a:p>
        </p:txBody>
      </p:sp>
      <p:pic>
        <p:nvPicPr>
          <p:cNvPr id="5" name="Picture 4">
            <a:extLst>
              <a:ext uri="{FF2B5EF4-FFF2-40B4-BE49-F238E27FC236}">
                <a16:creationId xmlns:a16="http://schemas.microsoft.com/office/drawing/2014/main" id="{2ABFA8F6-36C7-96FA-8C8E-400D619B53E9}"/>
              </a:ext>
            </a:extLst>
          </p:cNvPr>
          <p:cNvPicPr>
            <a:picLocks noChangeAspect="1"/>
          </p:cNvPicPr>
          <p:nvPr/>
        </p:nvPicPr>
        <p:blipFill>
          <a:blip r:embed="rId2"/>
          <a:stretch>
            <a:fillRect/>
          </a:stretch>
        </p:blipFill>
        <p:spPr>
          <a:xfrm>
            <a:off x="7506924" y="1720645"/>
            <a:ext cx="4572009" cy="4621161"/>
          </a:xfrm>
          <a:prstGeom prst="rect">
            <a:avLst/>
          </a:prstGeom>
          <a:ln>
            <a:noFill/>
          </a:ln>
          <a:effectLst>
            <a:softEdge rad="112500"/>
          </a:effectLst>
        </p:spPr>
      </p:pic>
    </p:spTree>
    <p:extLst>
      <p:ext uri="{BB962C8B-B14F-4D97-AF65-F5344CB8AC3E}">
        <p14:creationId xmlns:p14="http://schemas.microsoft.com/office/powerpoint/2010/main" val="960838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3D7F8-3643-F488-1EFF-736FC4C835EF}"/>
              </a:ext>
            </a:extLst>
          </p:cNvPr>
          <p:cNvSpPr>
            <a:spLocks noGrp="1"/>
          </p:cNvSpPr>
          <p:nvPr>
            <p:ph type="title"/>
          </p:nvPr>
        </p:nvSpPr>
        <p:spPr/>
        <p:txBody>
          <a:bodyPr>
            <a:normAutofit/>
          </a:bodyPr>
          <a:lstStyle/>
          <a:p>
            <a:r>
              <a:rPr lang="en-US" sz="3600" b="1" dirty="0">
                <a:solidFill>
                  <a:srgbClr val="0070C0"/>
                </a:solidFill>
                <a:latin typeface="Times New Roman" panose="02020603050405020304" pitchFamily="18" charset="0"/>
                <a:cs typeface="Times New Roman" panose="02020603050405020304" pitchFamily="18" charset="0"/>
              </a:rPr>
              <a:t>Comparison with Existing Work</a:t>
            </a:r>
            <a:endParaRPr lang="en-IN" sz="3600" b="1" dirty="0">
              <a:solidFill>
                <a:srgbClr val="0070C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5C399E4-FF64-2EA5-F707-FA0D8AB5107D}"/>
              </a:ext>
            </a:extLst>
          </p:cNvPr>
          <p:cNvSpPr>
            <a:spLocks noGrp="1"/>
          </p:cNvSpPr>
          <p:nvPr>
            <p:ph type="subTitle" idx="1"/>
          </p:nvPr>
        </p:nvSpPr>
        <p:spPr>
          <a:xfrm>
            <a:off x="845574" y="1179871"/>
            <a:ext cx="10736706" cy="5574890"/>
          </a:xfrm>
        </p:spPr>
        <p:txBody>
          <a:bodyPr/>
          <a:lstStyle/>
          <a:p>
            <a:r>
              <a:rPr lang="en-US" b="1" dirty="0"/>
              <a:t>Paper Considered - Sadaf Iqbal et al., 2023</a:t>
            </a:r>
            <a:br>
              <a:rPr lang="en-US" dirty="0"/>
            </a:br>
            <a:r>
              <a:rPr lang="en-US" i="1" dirty="0"/>
              <a:t>Deep Learning Identification of Coronary Artery Disease from Bilateral Finger PPG</a:t>
            </a:r>
            <a:endParaRPr lang="en-US"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5" name="Rectangle 1">
            <a:extLst>
              <a:ext uri="{FF2B5EF4-FFF2-40B4-BE49-F238E27FC236}">
                <a16:creationId xmlns:a16="http://schemas.microsoft.com/office/drawing/2014/main" id="{230BDD80-565B-3CE1-334C-3CD15C773D00}"/>
              </a:ext>
            </a:extLst>
          </p:cNvPr>
          <p:cNvSpPr>
            <a:spLocks noChangeArrowheads="1"/>
          </p:cNvSpPr>
          <p:nvPr/>
        </p:nvSpPr>
        <p:spPr bwMode="auto">
          <a:xfrm>
            <a:off x="717755" y="821980"/>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1"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0" name="Table 9">
            <a:extLst>
              <a:ext uri="{FF2B5EF4-FFF2-40B4-BE49-F238E27FC236}">
                <a16:creationId xmlns:a16="http://schemas.microsoft.com/office/drawing/2014/main" id="{9EC128FF-CD1D-F364-F748-8E013EFFBA2B}"/>
              </a:ext>
            </a:extLst>
          </p:cNvPr>
          <p:cNvGraphicFramePr>
            <a:graphicFrameLocks noGrp="1"/>
          </p:cNvGraphicFramePr>
          <p:nvPr>
            <p:extLst>
              <p:ext uri="{D42A27DB-BD31-4B8C-83A1-F6EECF244321}">
                <p14:modId xmlns:p14="http://schemas.microsoft.com/office/powerpoint/2010/main" val="2699262021"/>
              </p:ext>
            </p:extLst>
          </p:nvPr>
        </p:nvGraphicFramePr>
        <p:xfrm>
          <a:off x="2356344" y="2162441"/>
          <a:ext cx="8127999" cy="4592320"/>
        </p:xfrm>
        <a:graphic>
          <a:graphicData uri="http://schemas.openxmlformats.org/drawingml/2006/table">
            <a:tbl>
              <a:tblPr firstRow="1" bandRow="1">
                <a:tableStyleId>{073A0DAA-6AF3-43AB-8588-CEC1D06C72B9}</a:tableStyleId>
              </a:tblPr>
              <a:tblGrid>
                <a:gridCol w="2709333">
                  <a:extLst>
                    <a:ext uri="{9D8B030D-6E8A-4147-A177-3AD203B41FA5}">
                      <a16:colId xmlns:a16="http://schemas.microsoft.com/office/drawing/2014/main" val="926880935"/>
                    </a:ext>
                  </a:extLst>
                </a:gridCol>
                <a:gridCol w="2709333">
                  <a:extLst>
                    <a:ext uri="{9D8B030D-6E8A-4147-A177-3AD203B41FA5}">
                      <a16:colId xmlns:a16="http://schemas.microsoft.com/office/drawing/2014/main" val="3544327113"/>
                    </a:ext>
                  </a:extLst>
                </a:gridCol>
                <a:gridCol w="2709333">
                  <a:extLst>
                    <a:ext uri="{9D8B030D-6E8A-4147-A177-3AD203B41FA5}">
                      <a16:colId xmlns:a16="http://schemas.microsoft.com/office/drawing/2014/main" val="1870365469"/>
                    </a:ext>
                  </a:extLst>
                </a:gridCol>
              </a:tblGrid>
              <a:tr h="370840">
                <a:tc>
                  <a:txBody>
                    <a:bodyPr/>
                    <a:lstStyle/>
                    <a:p>
                      <a:pPr>
                        <a:buNone/>
                      </a:pPr>
                      <a:r>
                        <a:rPr lang="en-IN" dirty="0"/>
                        <a:t>Aspect</a:t>
                      </a:r>
                    </a:p>
                  </a:txBody>
                  <a:tcPr anchor="ctr"/>
                </a:tc>
                <a:tc>
                  <a:txBody>
                    <a:bodyPr/>
                    <a:lstStyle/>
                    <a:p>
                      <a:pPr>
                        <a:buNone/>
                      </a:pPr>
                      <a:r>
                        <a:rPr lang="da-DK"/>
                        <a:t>Existing Paper (Iqbal et al., 2023)</a:t>
                      </a:r>
                    </a:p>
                  </a:txBody>
                  <a:tcPr anchor="ctr"/>
                </a:tc>
                <a:tc>
                  <a:txBody>
                    <a:bodyPr/>
                    <a:lstStyle/>
                    <a:p>
                      <a:pPr>
                        <a:buNone/>
                      </a:pPr>
                      <a:r>
                        <a:rPr lang="en-IN" b="1"/>
                        <a:t>Proposed Project (Your Work)</a:t>
                      </a:r>
                      <a:endParaRPr lang="en-IN"/>
                    </a:p>
                  </a:txBody>
                  <a:tcPr anchor="ctr"/>
                </a:tc>
                <a:extLst>
                  <a:ext uri="{0D108BD9-81ED-4DB2-BD59-A6C34878D82A}">
                    <a16:rowId xmlns:a16="http://schemas.microsoft.com/office/drawing/2014/main" val="2238494805"/>
                  </a:ext>
                </a:extLst>
              </a:tr>
              <a:tr h="370840">
                <a:tc>
                  <a:txBody>
                    <a:bodyPr/>
                    <a:lstStyle/>
                    <a:p>
                      <a:pPr>
                        <a:buNone/>
                      </a:pPr>
                      <a:r>
                        <a:rPr lang="en-IN"/>
                        <a:t>Disease Focus</a:t>
                      </a:r>
                    </a:p>
                  </a:txBody>
                  <a:tcPr anchor="ctr"/>
                </a:tc>
                <a:tc>
                  <a:txBody>
                    <a:bodyPr/>
                    <a:lstStyle/>
                    <a:p>
                      <a:pPr>
                        <a:buNone/>
                      </a:pPr>
                      <a:r>
                        <a:rPr lang="en-IN"/>
                        <a:t>Coronary Artery Disease (CAD)</a:t>
                      </a:r>
                    </a:p>
                  </a:txBody>
                  <a:tcPr anchor="ctr"/>
                </a:tc>
                <a:tc>
                  <a:txBody>
                    <a:bodyPr/>
                    <a:lstStyle/>
                    <a:p>
                      <a:pPr>
                        <a:buNone/>
                      </a:pPr>
                      <a:r>
                        <a:rPr lang="en-IN"/>
                        <a:t>Coronary Artery Disease (CAD)</a:t>
                      </a:r>
                    </a:p>
                  </a:txBody>
                  <a:tcPr anchor="ctr"/>
                </a:tc>
                <a:extLst>
                  <a:ext uri="{0D108BD9-81ED-4DB2-BD59-A6C34878D82A}">
                    <a16:rowId xmlns:a16="http://schemas.microsoft.com/office/drawing/2014/main" val="1757086954"/>
                  </a:ext>
                </a:extLst>
              </a:tr>
              <a:tr h="370840">
                <a:tc>
                  <a:txBody>
                    <a:bodyPr/>
                    <a:lstStyle/>
                    <a:p>
                      <a:pPr>
                        <a:buNone/>
                      </a:pPr>
                      <a:r>
                        <a:rPr lang="en-IN"/>
                        <a:t>Signal Type</a:t>
                      </a:r>
                    </a:p>
                  </a:txBody>
                  <a:tcPr anchor="ctr"/>
                </a:tc>
                <a:tc>
                  <a:txBody>
                    <a:bodyPr/>
                    <a:lstStyle/>
                    <a:p>
                      <a:pPr>
                        <a:buNone/>
                      </a:pPr>
                      <a:r>
                        <a:rPr lang="en-IN"/>
                        <a:t>Bilateral finger PPG</a:t>
                      </a:r>
                    </a:p>
                  </a:txBody>
                  <a:tcPr anchor="ctr"/>
                </a:tc>
                <a:tc>
                  <a:txBody>
                    <a:bodyPr/>
                    <a:lstStyle/>
                    <a:p>
                      <a:pPr>
                        <a:buNone/>
                      </a:pPr>
                      <a:r>
                        <a:rPr lang="en-IN"/>
                        <a:t>Single-channel PPG signals</a:t>
                      </a:r>
                    </a:p>
                  </a:txBody>
                  <a:tcPr anchor="ctr"/>
                </a:tc>
                <a:extLst>
                  <a:ext uri="{0D108BD9-81ED-4DB2-BD59-A6C34878D82A}">
                    <a16:rowId xmlns:a16="http://schemas.microsoft.com/office/drawing/2014/main" val="775453371"/>
                  </a:ext>
                </a:extLst>
              </a:tr>
              <a:tr h="370840">
                <a:tc>
                  <a:txBody>
                    <a:bodyPr/>
                    <a:lstStyle/>
                    <a:p>
                      <a:pPr>
                        <a:buNone/>
                      </a:pPr>
                      <a:r>
                        <a:rPr lang="en-IN"/>
                        <a:t>Data Source</a:t>
                      </a:r>
                    </a:p>
                  </a:txBody>
                  <a:tcPr anchor="ctr"/>
                </a:tc>
                <a:tc>
                  <a:txBody>
                    <a:bodyPr/>
                    <a:lstStyle/>
                    <a:p>
                      <a:pPr>
                        <a:buNone/>
                      </a:pPr>
                      <a:r>
                        <a:rPr lang="en-IN"/>
                        <a:t>Controlled experimental data</a:t>
                      </a:r>
                    </a:p>
                  </a:txBody>
                  <a:tcPr anchor="ctr"/>
                </a:tc>
                <a:tc>
                  <a:txBody>
                    <a:bodyPr/>
                    <a:lstStyle/>
                    <a:p>
                      <a:pPr>
                        <a:buNone/>
                      </a:pPr>
                      <a:r>
                        <a:rPr lang="en-IN"/>
                        <a:t>Clinical dataset (MIMIC-III)</a:t>
                      </a:r>
                    </a:p>
                  </a:txBody>
                  <a:tcPr anchor="ctr"/>
                </a:tc>
                <a:extLst>
                  <a:ext uri="{0D108BD9-81ED-4DB2-BD59-A6C34878D82A}">
                    <a16:rowId xmlns:a16="http://schemas.microsoft.com/office/drawing/2014/main" val="2796791606"/>
                  </a:ext>
                </a:extLst>
              </a:tr>
              <a:tr h="370840">
                <a:tc>
                  <a:txBody>
                    <a:bodyPr/>
                    <a:lstStyle/>
                    <a:p>
                      <a:pPr>
                        <a:buNone/>
                      </a:pPr>
                      <a:r>
                        <a:rPr lang="en-IN"/>
                        <a:t>Preprocessing</a:t>
                      </a:r>
                    </a:p>
                  </a:txBody>
                  <a:tcPr anchor="ctr"/>
                </a:tc>
                <a:tc>
                  <a:txBody>
                    <a:bodyPr/>
                    <a:lstStyle/>
                    <a:p>
                      <a:pPr>
                        <a:buNone/>
                      </a:pPr>
                      <a:r>
                        <a:rPr lang="en-IN"/>
                        <a:t>CWT scalogram image conversion</a:t>
                      </a:r>
                    </a:p>
                  </a:txBody>
                  <a:tcPr anchor="ctr"/>
                </a:tc>
                <a:tc>
                  <a:txBody>
                    <a:bodyPr/>
                    <a:lstStyle/>
                    <a:p>
                      <a:pPr>
                        <a:buNone/>
                      </a:pPr>
                      <a:r>
                        <a:rPr lang="en-IN"/>
                        <a:t>Direct time-series preprocessing</a:t>
                      </a:r>
                    </a:p>
                  </a:txBody>
                  <a:tcPr anchor="ctr"/>
                </a:tc>
                <a:extLst>
                  <a:ext uri="{0D108BD9-81ED-4DB2-BD59-A6C34878D82A}">
                    <a16:rowId xmlns:a16="http://schemas.microsoft.com/office/drawing/2014/main" val="18480187"/>
                  </a:ext>
                </a:extLst>
              </a:tr>
              <a:tr h="370840">
                <a:tc>
                  <a:txBody>
                    <a:bodyPr/>
                    <a:lstStyle/>
                    <a:p>
                      <a:pPr>
                        <a:buNone/>
                      </a:pPr>
                      <a:r>
                        <a:rPr lang="en-IN"/>
                        <a:t>Model Used</a:t>
                      </a:r>
                    </a:p>
                  </a:txBody>
                  <a:tcPr anchor="ctr"/>
                </a:tc>
                <a:tc>
                  <a:txBody>
                    <a:bodyPr/>
                    <a:lstStyle/>
                    <a:p>
                      <a:pPr>
                        <a:buNone/>
                      </a:pPr>
                      <a:r>
                        <a:rPr lang="en-US"/>
                        <a:t>CNN (GoogLeNet with transfer learning)</a:t>
                      </a:r>
                    </a:p>
                  </a:txBody>
                  <a:tcPr anchor="ctr"/>
                </a:tc>
                <a:tc>
                  <a:txBody>
                    <a:bodyPr/>
                    <a:lstStyle/>
                    <a:p>
                      <a:pPr>
                        <a:buNone/>
                      </a:pPr>
                      <a:r>
                        <a:rPr lang="en-IN"/>
                        <a:t>CNN, LSTM, and Ensemble (CNN+LSTM)</a:t>
                      </a:r>
                    </a:p>
                  </a:txBody>
                  <a:tcPr anchor="ctr"/>
                </a:tc>
                <a:extLst>
                  <a:ext uri="{0D108BD9-81ED-4DB2-BD59-A6C34878D82A}">
                    <a16:rowId xmlns:a16="http://schemas.microsoft.com/office/drawing/2014/main" val="2451991630"/>
                  </a:ext>
                </a:extLst>
              </a:tr>
              <a:tr h="370840">
                <a:tc>
                  <a:txBody>
                    <a:bodyPr/>
                    <a:lstStyle/>
                    <a:p>
                      <a:pPr>
                        <a:buNone/>
                      </a:pPr>
                      <a:r>
                        <a:rPr lang="en-IN"/>
                        <a:t>Feature Learning</a:t>
                      </a:r>
                    </a:p>
                  </a:txBody>
                  <a:tcPr anchor="ctr"/>
                </a:tc>
                <a:tc>
                  <a:txBody>
                    <a:bodyPr/>
                    <a:lstStyle/>
                    <a:p>
                      <a:pPr>
                        <a:buNone/>
                      </a:pPr>
                      <a:r>
                        <a:rPr lang="en-IN"/>
                        <a:t>Image-based feature learning</a:t>
                      </a:r>
                    </a:p>
                  </a:txBody>
                  <a:tcPr anchor="ctr"/>
                </a:tc>
                <a:tc>
                  <a:txBody>
                    <a:bodyPr/>
                    <a:lstStyle/>
                    <a:p>
                      <a:pPr>
                        <a:buNone/>
                      </a:pPr>
                      <a:r>
                        <a:rPr lang="en-IN"/>
                        <a:t>Spatial + temporal feature learning</a:t>
                      </a:r>
                    </a:p>
                  </a:txBody>
                  <a:tcPr anchor="ctr"/>
                </a:tc>
                <a:extLst>
                  <a:ext uri="{0D108BD9-81ED-4DB2-BD59-A6C34878D82A}">
                    <a16:rowId xmlns:a16="http://schemas.microsoft.com/office/drawing/2014/main" val="354229897"/>
                  </a:ext>
                </a:extLst>
              </a:tr>
              <a:tr h="370840">
                <a:tc>
                  <a:txBody>
                    <a:bodyPr/>
                    <a:lstStyle/>
                    <a:p>
                      <a:pPr>
                        <a:buNone/>
                      </a:pPr>
                      <a:r>
                        <a:rPr lang="en-IN"/>
                        <a:t>Classification</a:t>
                      </a:r>
                    </a:p>
                  </a:txBody>
                  <a:tcPr anchor="ctr"/>
                </a:tc>
                <a:tc>
                  <a:txBody>
                    <a:bodyPr/>
                    <a:lstStyle/>
                    <a:p>
                      <a:pPr>
                        <a:buNone/>
                      </a:pPr>
                      <a:r>
                        <a:rPr lang="en-IN"/>
                        <a:t>Single deep learning model</a:t>
                      </a:r>
                    </a:p>
                  </a:txBody>
                  <a:tcPr anchor="ctr"/>
                </a:tc>
                <a:tc>
                  <a:txBody>
                    <a:bodyPr/>
                    <a:lstStyle/>
                    <a:p>
                      <a:pPr>
                        <a:buNone/>
                      </a:pPr>
                      <a:r>
                        <a:rPr lang="en-US" b="1" dirty="0"/>
                        <a:t>top-K soft </a:t>
                      </a:r>
                      <a:r>
                        <a:rPr lang="en-IN" dirty="0"/>
                        <a:t> voting strategy</a:t>
                      </a:r>
                    </a:p>
                  </a:txBody>
                  <a:tcPr anchor="ctr"/>
                </a:tc>
                <a:extLst>
                  <a:ext uri="{0D108BD9-81ED-4DB2-BD59-A6C34878D82A}">
                    <a16:rowId xmlns:a16="http://schemas.microsoft.com/office/drawing/2014/main" val="498468256"/>
                  </a:ext>
                </a:extLst>
              </a:tr>
              <a:tr h="370840">
                <a:tc>
                  <a:txBody>
                    <a:bodyPr/>
                    <a:lstStyle/>
                    <a:p>
                      <a:pPr>
                        <a:buNone/>
                      </a:pPr>
                      <a:r>
                        <a:rPr lang="en-IN"/>
                        <a:t>Performance</a:t>
                      </a:r>
                    </a:p>
                  </a:txBody>
                  <a:tcPr anchor="ctr"/>
                </a:tc>
                <a:tc>
                  <a:txBody>
                    <a:bodyPr/>
                    <a:lstStyle/>
                    <a:p>
                      <a:pPr>
                        <a:buNone/>
                      </a:pPr>
                      <a:r>
                        <a:rPr lang="en-IN"/>
                        <a:t>Accuracy ≈ 83.8%</a:t>
                      </a:r>
                    </a:p>
                  </a:txBody>
                  <a:tcPr anchor="ctr"/>
                </a:tc>
                <a:tc>
                  <a:txBody>
                    <a:bodyPr/>
                    <a:lstStyle/>
                    <a:p>
                      <a:pPr>
                        <a:buNone/>
                      </a:pPr>
                      <a:r>
                        <a:rPr lang="en-IN" dirty="0"/>
                        <a:t>Accuracy ≈ </a:t>
                      </a:r>
                      <a:r>
                        <a:rPr lang="en-IN" b="1" dirty="0"/>
                        <a:t>87.01%</a:t>
                      </a:r>
                      <a:r>
                        <a:rPr lang="en-IN" dirty="0"/>
                        <a:t>, ROC-AUC </a:t>
                      </a:r>
                      <a:r>
                        <a:rPr lang="en-IN" b="1" dirty="0"/>
                        <a:t>95.28%</a:t>
                      </a:r>
                      <a:endParaRPr lang="en-IN" dirty="0"/>
                    </a:p>
                  </a:txBody>
                  <a:tcPr anchor="ctr"/>
                </a:tc>
                <a:extLst>
                  <a:ext uri="{0D108BD9-81ED-4DB2-BD59-A6C34878D82A}">
                    <a16:rowId xmlns:a16="http://schemas.microsoft.com/office/drawing/2014/main" val="3514196066"/>
                  </a:ext>
                </a:extLst>
              </a:tr>
              <a:tr h="363930">
                <a:tc>
                  <a:txBody>
                    <a:bodyPr/>
                    <a:lstStyle/>
                    <a:p>
                      <a:pPr>
                        <a:buNone/>
                      </a:pPr>
                      <a:r>
                        <a:rPr lang="en-IN"/>
                        <a:t>Practical Use</a:t>
                      </a:r>
                    </a:p>
                  </a:txBody>
                  <a:tcPr anchor="ctr"/>
                </a:tc>
                <a:tc>
                  <a:txBody>
                    <a:bodyPr/>
                    <a:lstStyle/>
                    <a:p>
                      <a:pPr>
                        <a:buNone/>
                      </a:pPr>
                      <a:r>
                        <a:rPr lang="en-IN"/>
                        <a:t>Proof-of-concept study</a:t>
                      </a:r>
                    </a:p>
                  </a:txBody>
                  <a:tcPr anchor="ctr"/>
                </a:tc>
                <a:tc>
                  <a:txBody>
                    <a:bodyPr/>
                    <a:lstStyle/>
                    <a:p>
                      <a:pPr>
                        <a:buNone/>
                      </a:pPr>
                      <a:r>
                        <a:rPr lang="en-US" dirty="0"/>
                        <a:t>More scalable and robust approach</a:t>
                      </a:r>
                    </a:p>
                  </a:txBody>
                  <a:tcPr anchor="ctr"/>
                </a:tc>
                <a:extLst>
                  <a:ext uri="{0D108BD9-81ED-4DB2-BD59-A6C34878D82A}">
                    <a16:rowId xmlns:a16="http://schemas.microsoft.com/office/drawing/2014/main" val="1251157290"/>
                  </a:ext>
                </a:extLst>
              </a:tr>
            </a:tbl>
          </a:graphicData>
        </a:graphic>
      </p:graphicFrame>
    </p:spTree>
    <p:extLst>
      <p:ext uri="{BB962C8B-B14F-4D97-AF65-F5344CB8AC3E}">
        <p14:creationId xmlns:p14="http://schemas.microsoft.com/office/powerpoint/2010/main" val="3450966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39287-4F06-9D34-E8C2-DA3D670B095A}"/>
              </a:ext>
            </a:extLst>
          </p:cNvPr>
          <p:cNvSpPr>
            <a:spLocks noGrp="1"/>
          </p:cNvSpPr>
          <p:nvPr>
            <p:ph type="title"/>
          </p:nvPr>
        </p:nvSpPr>
        <p:spPr/>
        <p:txBody>
          <a:bodyPr>
            <a:normAutofit/>
          </a:bodyPr>
          <a:lstStyle/>
          <a:p>
            <a:r>
              <a:rPr lang="en-US" sz="3600" b="1" dirty="0">
                <a:solidFill>
                  <a:srgbClr val="0070C0"/>
                </a:solidFill>
                <a:latin typeface="Times New Roman" panose="02020603050405020304" pitchFamily="18" charset="0"/>
                <a:cs typeface="Times New Roman" panose="02020603050405020304" pitchFamily="18" charset="0"/>
              </a:rPr>
              <a:t>Key Improvements in Our Project</a:t>
            </a:r>
            <a:endParaRPr lang="en-IN" sz="3600" b="1" dirty="0">
              <a:solidFill>
                <a:srgbClr val="0070C0"/>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28381A95-A728-315E-80B4-0017A87B05F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2C4BD13E-D7EE-99EE-F641-B03FE3C80F4D}"/>
              </a:ext>
            </a:extLst>
          </p:cNvPr>
          <p:cNvSpPr>
            <a:spLocks noGrp="1" noChangeArrowheads="1"/>
          </p:cNvSpPr>
          <p:nvPr>
            <p:ph type="subTitle" idx="1"/>
          </p:nvPr>
        </p:nvSpPr>
        <p:spPr bwMode="auto">
          <a:xfrm>
            <a:off x="1057275" y="1406789"/>
            <a:ext cx="10308815"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Utilizes clinically realistic PPG data with associated patient information, reflecting real-world conditions.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Eliminates the need for complex signal-to-image transformations, reducing computational complexity.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Processes PPG signals directly in the time domain, resulting in a simpler and faster pipeline.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Employs a hybrid </a:t>
            </a:r>
            <a:r>
              <a:rPr kumimoji="0" lang="en-US" altLang="en-US" sz="1800" b="1" i="0" u="none" strike="noStrike" cap="none" normalizeH="0" baseline="0" dirty="0">
                <a:ln>
                  <a:noFill/>
                </a:ln>
                <a:solidFill>
                  <a:schemeClr val="tx1"/>
                </a:solidFill>
                <a:effectLst/>
                <a:latin typeface="Arial" panose="020B0604020202020204" pitchFamily="34" charset="0"/>
              </a:rPr>
              <a:t>CNN–Bidirectional LSTM with Attention</a:t>
            </a:r>
            <a:r>
              <a:rPr kumimoji="0" lang="en-US" altLang="en-US" sz="1800" b="0" i="0" u="none" strike="noStrike" cap="none" normalizeH="0" baseline="0" dirty="0">
                <a:ln>
                  <a:noFill/>
                </a:ln>
                <a:solidFill>
                  <a:schemeClr val="tx1"/>
                </a:solidFill>
                <a:effectLst/>
                <a:latin typeface="Arial" panose="020B0604020202020204" pitchFamily="34" charset="0"/>
              </a:rPr>
              <a:t> model to effectively capture both waveform and temporal features.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Applies </a:t>
            </a:r>
            <a:r>
              <a:rPr kumimoji="0" lang="en-US" altLang="en-US" sz="1800" b="1" i="0" u="none" strike="noStrike" cap="none" normalizeH="0" baseline="0" dirty="0">
                <a:ln>
                  <a:noFill/>
                </a:ln>
                <a:solidFill>
                  <a:schemeClr val="tx1"/>
                </a:solidFill>
                <a:effectLst/>
                <a:latin typeface="Arial" panose="020B0604020202020204" pitchFamily="34" charset="0"/>
              </a:rPr>
              <a:t>patient-level top-K soft voting</a:t>
            </a:r>
            <a:r>
              <a:rPr kumimoji="0" lang="en-US" altLang="en-US" sz="1800" b="0" i="0" u="none" strike="noStrike" cap="none" normalizeH="0" baseline="0" dirty="0">
                <a:ln>
                  <a:noFill/>
                </a:ln>
                <a:solidFill>
                  <a:schemeClr val="tx1"/>
                </a:solidFill>
                <a:effectLst/>
                <a:latin typeface="Arial" panose="020B0604020202020204" pitchFamily="34" charset="0"/>
              </a:rPr>
              <a:t> with optimized threshold selection to improve robustness and prediction stability.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Achieves strong patient-level performance with high sensitivity and ROC-AUC, demonstrating reliable CAD detection.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Provides a scalable and practical framework suitable for continuous monitoring and wearable health systems.</a:t>
            </a:r>
          </a:p>
        </p:txBody>
      </p:sp>
    </p:spTree>
    <p:extLst>
      <p:ext uri="{BB962C8B-B14F-4D97-AF65-F5344CB8AC3E}">
        <p14:creationId xmlns:p14="http://schemas.microsoft.com/office/powerpoint/2010/main" val="1838970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65E5C-5C6D-1D99-F435-BD7A8E76539F}"/>
              </a:ext>
            </a:extLst>
          </p:cNvPr>
          <p:cNvSpPr>
            <a:spLocks noGrp="1"/>
          </p:cNvSpPr>
          <p:nvPr>
            <p:ph type="title"/>
          </p:nvPr>
        </p:nvSpPr>
        <p:spPr/>
        <p:txBody>
          <a:bodyPr>
            <a:normAutofit/>
          </a:bodyPr>
          <a:lstStyle/>
          <a:p>
            <a:r>
              <a:rPr lang="en-IN" sz="3600" b="1" dirty="0">
                <a:solidFill>
                  <a:srgbClr val="0070C0"/>
                </a:solidFill>
                <a:latin typeface="Times New Roman" panose="02020603050405020304" pitchFamily="18" charset="0"/>
                <a:cs typeface="Times New Roman" panose="02020603050405020304" pitchFamily="18" charset="0"/>
              </a:rPr>
              <a:t>Limitations</a:t>
            </a:r>
          </a:p>
        </p:txBody>
      </p:sp>
      <p:sp>
        <p:nvSpPr>
          <p:cNvPr id="4" name="Rectangle 1">
            <a:extLst>
              <a:ext uri="{FF2B5EF4-FFF2-40B4-BE49-F238E27FC236}">
                <a16:creationId xmlns:a16="http://schemas.microsoft.com/office/drawing/2014/main" id="{6B0BEF4F-14E8-8AD8-1267-DEB0CF517948}"/>
              </a:ext>
            </a:extLst>
          </p:cNvPr>
          <p:cNvSpPr>
            <a:spLocks noGrp="1" noChangeArrowheads="1"/>
          </p:cNvSpPr>
          <p:nvPr>
            <p:ph type="subTitle" idx="1"/>
          </p:nvPr>
        </p:nvSpPr>
        <p:spPr bwMode="auto">
          <a:xfrm>
            <a:off x="1002770" y="1651590"/>
            <a:ext cx="8334333"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model performance depends on the </a:t>
            </a:r>
            <a:r>
              <a:rPr kumimoji="0" lang="en-US" altLang="en-US" sz="1800" b="1" i="0" u="none" strike="noStrike" cap="none" normalizeH="0" baseline="0" dirty="0">
                <a:ln>
                  <a:noFill/>
                </a:ln>
                <a:solidFill>
                  <a:schemeClr val="tx1"/>
                </a:solidFill>
                <a:effectLst/>
                <a:latin typeface="Arial" panose="020B0604020202020204" pitchFamily="34" charset="0"/>
              </a:rPr>
              <a:t>quality of PPG signals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PPG signals are affected by </a:t>
            </a:r>
            <a:r>
              <a:rPr kumimoji="0" lang="en-US" altLang="en-US" sz="1800" b="1" i="0" u="none" strike="noStrike" cap="none" normalizeH="0" baseline="0" dirty="0">
                <a:ln>
                  <a:noFill/>
                </a:ln>
                <a:solidFill>
                  <a:schemeClr val="tx1"/>
                </a:solidFill>
                <a:effectLst/>
                <a:latin typeface="Arial" panose="020B0604020202020204" pitchFamily="34" charset="0"/>
              </a:rPr>
              <a:t>noise and motion artifacts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dataset is limited to </a:t>
            </a:r>
            <a:r>
              <a:rPr kumimoji="0" lang="en-US" altLang="en-US" sz="1800" b="1" i="0" u="none" strike="noStrike" cap="none" normalizeH="0" baseline="0" dirty="0">
                <a:ln>
                  <a:noFill/>
                </a:ln>
                <a:solidFill>
                  <a:schemeClr val="tx1"/>
                </a:solidFill>
                <a:effectLst/>
                <a:latin typeface="Arial" panose="020B0604020202020204" pitchFamily="34" charset="0"/>
              </a:rPr>
              <a:t>clinical ICU data</a:t>
            </a:r>
            <a:r>
              <a:rPr kumimoji="0" lang="en-US" altLang="en-US" sz="1800" b="0" i="0" u="none" strike="noStrike" cap="none" normalizeH="0" baseline="0" dirty="0">
                <a:ln>
                  <a:noFill/>
                </a:ln>
                <a:solidFill>
                  <a:schemeClr val="tx1"/>
                </a:solidFill>
                <a:effectLst/>
                <a:latin typeface="Arial" panose="020B0604020202020204" pitchFamily="34" charset="0"/>
              </a:rPr>
              <a:t>, which may affect generalization.</a:t>
            </a:r>
          </a:p>
          <a:p>
            <a:pPr marL="285750" marR="0" lvl="0" indent="-285750" algn="l"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Deep learning models require </a:t>
            </a:r>
            <a:r>
              <a:rPr kumimoji="0" lang="en-US" altLang="en-US" sz="1800" b="1" i="0" u="none" strike="noStrike" cap="none" normalizeH="0" baseline="0" dirty="0">
                <a:ln>
                  <a:noFill/>
                </a:ln>
                <a:solidFill>
                  <a:schemeClr val="tx1"/>
                </a:solidFill>
                <a:effectLst/>
                <a:latin typeface="Arial" panose="020B0604020202020204" pitchFamily="34" charset="0"/>
              </a:rPr>
              <a:t>high computational resources</a:t>
            </a:r>
            <a:r>
              <a:rPr kumimoji="0" lang="en-US" altLang="en-US" sz="1800" b="0" i="0" u="none" strike="noStrike" cap="none" normalizeH="0" baseline="0" dirty="0">
                <a:ln>
                  <a:noFill/>
                </a:ln>
                <a:solidFill>
                  <a:schemeClr val="tx1"/>
                </a:solidFill>
                <a:effectLst/>
                <a:latin typeface="Arial" panose="020B0604020202020204" pitchFamily="34" charset="0"/>
              </a:rPr>
              <a:t> for training.</a:t>
            </a:r>
          </a:p>
          <a:p>
            <a:pPr marL="285750" marR="0" lvl="0" indent="-285750" algn="l"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currently supports </a:t>
            </a:r>
            <a:r>
              <a:rPr kumimoji="0" lang="en-US" altLang="en-US" sz="1800" b="1" i="0" u="none" strike="noStrike" cap="none" normalizeH="0" baseline="0" dirty="0">
                <a:ln>
                  <a:noFill/>
                </a:ln>
                <a:solidFill>
                  <a:schemeClr val="tx1"/>
                </a:solidFill>
                <a:effectLst/>
                <a:latin typeface="Arial" panose="020B0604020202020204" pitchFamily="34" charset="0"/>
              </a:rPr>
              <a:t>binary classification (CAD / Non-CAD)</a:t>
            </a:r>
            <a:r>
              <a:rPr kumimoji="0" lang="en-US" altLang="en-US" sz="1800" b="0" i="0" u="none" strike="noStrike" cap="none" normalizeH="0" baseline="0" dirty="0">
                <a:ln>
                  <a:noFill/>
                </a:ln>
                <a:solidFill>
                  <a:schemeClr val="tx1"/>
                </a:solidFill>
                <a:effectLst/>
                <a:latin typeface="Arial" panose="020B0604020202020204" pitchFamily="34" charset="0"/>
              </a:rPr>
              <a:t> only.</a:t>
            </a:r>
          </a:p>
        </p:txBody>
      </p:sp>
    </p:spTree>
    <p:extLst>
      <p:ext uri="{BB962C8B-B14F-4D97-AF65-F5344CB8AC3E}">
        <p14:creationId xmlns:p14="http://schemas.microsoft.com/office/powerpoint/2010/main" val="3915961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51E43-B3CC-00FF-2842-E08993F17481}"/>
              </a:ext>
            </a:extLst>
          </p:cNvPr>
          <p:cNvSpPr>
            <a:spLocks noGrp="1"/>
          </p:cNvSpPr>
          <p:nvPr>
            <p:ph type="title"/>
          </p:nvPr>
        </p:nvSpPr>
        <p:spPr/>
        <p:txBody>
          <a:bodyPr>
            <a:normAutofit/>
          </a:bodyPr>
          <a:lstStyle/>
          <a:p>
            <a:r>
              <a:rPr lang="en-IN" sz="3600" b="1" dirty="0">
                <a:solidFill>
                  <a:srgbClr val="0070C0"/>
                </a:solidFill>
                <a:latin typeface="Times New Roman" panose="02020603050405020304" pitchFamily="18" charset="0"/>
                <a:cs typeface="Times New Roman" panose="02020603050405020304" pitchFamily="18" charset="0"/>
              </a:rPr>
              <a:t>Future Scope</a:t>
            </a:r>
          </a:p>
        </p:txBody>
      </p:sp>
      <p:sp>
        <p:nvSpPr>
          <p:cNvPr id="3" name="Subtitle 2">
            <a:extLst>
              <a:ext uri="{FF2B5EF4-FFF2-40B4-BE49-F238E27FC236}">
                <a16:creationId xmlns:a16="http://schemas.microsoft.com/office/drawing/2014/main" id="{5D775DFE-6DE9-F25F-61A5-194D4F261BEA}"/>
              </a:ext>
            </a:extLst>
          </p:cNvPr>
          <p:cNvSpPr>
            <a:spLocks noGrp="1"/>
          </p:cNvSpPr>
          <p:nvPr>
            <p:ph type="subTitle" idx="1"/>
          </p:nvPr>
        </p:nvSpPr>
        <p:spPr>
          <a:xfrm>
            <a:off x="756964" y="1702842"/>
            <a:ext cx="10972440" cy="3977280"/>
          </a:xfrm>
        </p:spPr>
        <p:txBody>
          <a:bodyPr/>
          <a:lstStyle/>
          <a:p>
            <a:pPr marL="514350" indent="-285750">
              <a:lnSpc>
                <a:spcPct val="200000"/>
              </a:lnSpc>
              <a:buFont typeface="Arial" panose="020B0604020202020204" pitchFamily="34" charset="0"/>
              <a:buChar char="•"/>
            </a:pPr>
            <a:r>
              <a:rPr lang="en-US" dirty="0"/>
              <a:t>Improve performance using </a:t>
            </a:r>
            <a:r>
              <a:rPr lang="en-US" b="1" dirty="0"/>
              <a:t>larger and more diverse datasets</a:t>
            </a:r>
            <a:r>
              <a:rPr lang="en-US" dirty="0"/>
              <a:t>.</a:t>
            </a:r>
          </a:p>
          <a:p>
            <a:pPr marL="514350" indent="-285750">
              <a:lnSpc>
                <a:spcPct val="200000"/>
              </a:lnSpc>
              <a:buFont typeface="Arial" panose="020B0604020202020204" pitchFamily="34" charset="0"/>
              <a:buChar char="•"/>
            </a:pPr>
            <a:r>
              <a:rPr lang="en-US" dirty="0"/>
              <a:t>Integrate </a:t>
            </a:r>
            <a:r>
              <a:rPr lang="en-US" b="1" dirty="0"/>
              <a:t>real-time PPG data from wearable devices</a:t>
            </a:r>
            <a:r>
              <a:rPr lang="en-US" dirty="0"/>
              <a:t>.</a:t>
            </a:r>
          </a:p>
          <a:p>
            <a:pPr marL="514350" indent="-285750">
              <a:lnSpc>
                <a:spcPct val="200000"/>
              </a:lnSpc>
              <a:buFont typeface="Arial" panose="020B0604020202020204" pitchFamily="34" charset="0"/>
              <a:buChar char="•"/>
            </a:pPr>
            <a:r>
              <a:rPr lang="en-US" dirty="0"/>
              <a:t>Extend the system to detect </a:t>
            </a:r>
            <a:r>
              <a:rPr lang="en-US" b="1" dirty="0"/>
              <a:t>multiple cardiovascular diseases</a:t>
            </a:r>
            <a:r>
              <a:rPr lang="en-US" dirty="0"/>
              <a:t>.</a:t>
            </a:r>
          </a:p>
          <a:p>
            <a:pPr marL="514350" indent="-285750">
              <a:lnSpc>
                <a:spcPct val="200000"/>
              </a:lnSpc>
              <a:buFont typeface="Arial" panose="020B0604020202020204" pitchFamily="34" charset="0"/>
              <a:buChar char="•"/>
            </a:pPr>
            <a:r>
              <a:rPr lang="en-US" dirty="0"/>
              <a:t>Apply </a:t>
            </a:r>
            <a:r>
              <a:rPr lang="en-US" b="1" dirty="0"/>
              <a:t>model optimization</a:t>
            </a:r>
            <a:r>
              <a:rPr lang="en-US" dirty="0"/>
              <a:t> to reduce computational complexity.</a:t>
            </a:r>
          </a:p>
          <a:p>
            <a:pPr marL="514350" indent="-285750">
              <a:lnSpc>
                <a:spcPct val="200000"/>
              </a:lnSpc>
              <a:buFont typeface="Arial" panose="020B0604020202020204" pitchFamily="34" charset="0"/>
              <a:buChar char="•"/>
            </a:pPr>
            <a:r>
              <a:rPr lang="en-US" dirty="0"/>
              <a:t>Add </a:t>
            </a:r>
            <a:r>
              <a:rPr lang="en-US" b="1" dirty="0"/>
              <a:t>explainable AI techniques</a:t>
            </a:r>
            <a:r>
              <a:rPr lang="en-US" dirty="0"/>
              <a:t> for better clinical interpretation.</a:t>
            </a:r>
          </a:p>
          <a:p>
            <a:pPr marL="514350" indent="-285750">
              <a:lnSpc>
                <a:spcPct val="200000"/>
              </a:lnSpc>
              <a:buFont typeface="Arial" panose="020B0604020202020204" pitchFamily="34" charset="0"/>
              <a:buChar char="•"/>
            </a:pPr>
            <a:r>
              <a:rPr lang="en-US" dirty="0"/>
              <a:t>Deploy the model as a </a:t>
            </a:r>
            <a:r>
              <a:rPr lang="en-US" b="1" dirty="0"/>
              <a:t>mobile or web-based healthcare application</a:t>
            </a:r>
            <a:r>
              <a:rPr lang="en-US" dirty="0"/>
              <a:t>.</a:t>
            </a:r>
          </a:p>
          <a:p>
            <a:pPr marL="514350" indent="-285750">
              <a:lnSpc>
                <a:spcPct val="200000"/>
              </a:lnSpc>
              <a:buFont typeface="Arial" panose="020B0604020202020204" pitchFamily="34" charset="0"/>
              <a:buChar char="•"/>
            </a:pPr>
            <a:endParaRPr lang="en-IN" dirty="0"/>
          </a:p>
        </p:txBody>
      </p:sp>
    </p:spTree>
    <p:extLst>
      <p:ext uri="{BB962C8B-B14F-4D97-AF65-F5344CB8AC3E}">
        <p14:creationId xmlns:p14="http://schemas.microsoft.com/office/powerpoint/2010/main" val="1164168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98AEB-3C1E-5E9C-4B13-EE7F9C9EF796}"/>
              </a:ext>
            </a:extLst>
          </p:cNvPr>
          <p:cNvSpPr>
            <a:spLocks noGrp="1"/>
          </p:cNvSpPr>
          <p:nvPr>
            <p:ph type="title"/>
          </p:nvPr>
        </p:nvSpPr>
        <p:spPr/>
        <p:txBody>
          <a:bodyPr>
            <a:normAutofit/>
          </a:bodyPr>
          <a:lstStyle/>
          <a:p>
            <a:r>
              <a:rPr lang="en-IN" sz="3600" b="1" dirty="0">
                <a:solidFill>
                  <a:srgbClr val="0070C0"/>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BD0D322D-67BF-7C22-0A49-36DB1AB76E16}"/>
              </a:ext>
            </a:extLst>
          </p:cNvPr>
          <p:cNvSpPr>
            <a:spLocks noGrp="1" noChangeArrowheads="1"/>
          </p:cNvSpPr>
          <p:nvPr>
            <p:ph type="subTitle" idx="1"/>
          </p:nvPr>
        </p:nvSpPr>
        <p:spPr bwMode="auto">
          <a:xfrm>
            <a:off x="766797" y="1704631"/>
            <a:ext cx="1120889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200000"/>
              </a:lnSpc>
              <a:spcBef>
                <a:spcPct val="0"/>
              </a:spcBef>
              <a:spcAft>
                <a:spcPct val="0"/>
              </a:spcAft>
              <a:buClrTx/>
              <a:buSzTx/>
            </a:pPr>
            <a:r>
              <a:rPr lang="en-US" dirty="0"/>
              <a:t>This project presents a deep learning–based framework for the detection of Coronary Artery Disease using non-invasive PPG signals. Raw PPG data is preprocessed, segmented into fixed-length samples, and analyzed using a hybrid CNN–Bidirectional LSTM model with an attention mechanism. Patient-level aggregation using top-K soft voting and optimized threshold selection is employed to enhance prediction reliability. The proposed system achieves strong patient-level performance with high sensitivity and a ROC-AUC of approximately 0.95, demonstrating effective classification capability. These results indicate that PPG signals combined with deep learning provide a practical and scalable solution for early, non-invasive CAD screening.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74223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42"/>
        <p:cNvGrpSpPr/>
        <p:nvPr/>
      </p:nvGrpSpPr>
      <p:grpSpPr>
        <a:xfrm>
          <a:off x="0" y="0"/>
          <a:ext cx="0" cy="0"/>
          <a:chOff x="0" y="0"/>
          <a:chExt cx="0" cy="0"/>
        </a:xfrm>
      </p:grpSpPr>
      <p:sp>
        <p:nvSpPr>
          <p:cNvPr id="143" name="Google Shape;143;p27"/>
          <p:cNvSpPr txBox="1"/>
          <p:nvPr/>
        </p:nvSpPr>
        <p:spPr>
          <a:xfrm>
            <a:off x="609480" y="274680"/>
            <a:ext cx="10972800" cy="114300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GB" sz="36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References</a:t>
            </a:r>
            <a:endParaRPr sz="4400" b="0" strike="noStrike" dirty="0">
              <a:latin typeface="Arial" panose="020B0604020202020204"/>
              <a:ea typeface="Arial" panose="020B0604020202020204"/>
              <a:cs typeface="Arial" panose="020B0604020202020204"/>
              <a:sym typeface="Arial" panose="020B0604020202020204"/>
            </a:endParaRPr>
          </a:p>
        </p:txBody>
      </p:sp>
      <p:sp>
        <p:nvSpPr>
          <p:cNvPr id="6" name="TextBox 5">
            <a:extLst>
              <a:ext uri="{FF2B5EF4-FFF2-40B4-BE49-F238E27FC236}">
                <a16:creationId xmlns:a16="http://schemas.microsoft.com/office/drawing/2014/main" id="{6E53CFB5-5424-6561-E60B-F2E9BFB8C4E5}"/>
              </a:ext>
            </a:extLst>
          </p:cNvPr>
          <p:cNvSpPr txBox="1"/>
          <p:nvPr/>
        </p:nvSpPr>
        <p:spPr>
          <a:xfrm>
            <a:off x="1007031" y="1330990"/>
            <a:ext cx="10732686" cy="5027017"/>
          </a:xfrm>
          <a:prstGeom prst="rect">
            <a:avLst/>
          </a:prstGeom>
          <a:noFill/>
        </p:spPr>
        <p:txBody>
          <a:bodyPr wrap="square">
            <a:spAutoFit/>
          </a:bodyPr>
          <a:lstStyle/>
          <a:p>
            <a:pPr marL="342900" indent="-342900" eaLnBrk="0" fontAlgn="base" hangingPunct="0">
              <a:lnSpc>
                <a:spcPct val="150000"/>
              </a:lnSpc>
              <a:spcBef>
                <a:spcPct val="0"/>
              </a:spcBef>
              <a:spcAft>
                <a:spcPct val="0"/>
              </a:spcAft>
              <a:buClrTx/>
              <a:buFont typeface="+mj-lt"/>
              <a:buAutoNum type="arabicPeriod"/>
            </a:pPr>
            <a:r>
              <a:rPr lang="en-US" altLang="en-US" sz="1800" dirty="0" err="1">
                <a:solidFill>
                  <a:schemeClr val="tx1"/>
                </a:solidFill>
                <a:ea typeface="Calibri" panose="020F0502020204030204" pitchFamily="34" charset="0"/>
                <a:cs typeface="Calibri" panose="020F0502020204030204" pitchFamily="34" charset="0"/>
              </a:rPr>
              <a:t>Zhaoying</a:t>
            </a:r>
            <a:r>
              <a:rPr lang="en-US" altLang="en-US" sz="1800" dirty="0">
                <a:solidFill>
                  <a:schemeClr val="tx1"/>
                </a:solidFill>
                <a:ea typeface="Calibri" panose="020F0502020204030204" pitchFamily="34" charset="0"/>
                <a:cs typeface="Calibri" panose="020F0502020204030204" pitchFamily="34" charset="0"/>
              </a:rPr>
              <a:t> Li et al., </a:t>
            </a:r>
            <a:r>
              <a:rPr lang="en-US" altLang="en-US" sz="1800" i="1" dirty="0">
                <a:solidFill>
                  <a:schemeClr val="tx1"/>
                </a:solidFill>
                <a:ea typeface="Calibri" panose="020F0502020204030204" pitchFamily="34" charset="0"/>
                <a:cs typeface="Calibri" panose="020F0502020204030204" pitchFamily="34" charset="0"/>
              </a:rPr>
              <a:t>Coronary Artery Disease Detection Based on Photoplethysmography via </a:t>
            </a:r>
            <a:r>
              <a:rPr lang="en-US" altLang="en-US" sz="1800" i="1" dirty="0" err="1">
                <a:solidFill>
                  <a:schemeClr val="tx1"/>
                </a:solidFill>
                <a:ea typeface="Calibri" panose="020F0502020204030204" pitchFamily="34" charset="0"/>
                <a:cs typeface="Calibri" panose="020F0502020204030204" pitchFamily="34" charset="0"/>
              </a:rPr>
              <a:t>Gramian</a:t>
            </a:r>
            <a:r>
              <a:rPr lang="en-US" altLang="en-US" sz="1800" i="1" dirty="0">
                <a:solidFill>
                  <a:schemeClr val="tx1"/>
                </a:solidFill>
                <a:ea typeface="Calibri" panose="020F0502020204030204" pitchFamily="34" charset="0"/>
                <a:cs typeface="Calibri" panose="020F0502020204030204" pitchFamily="34" charset="0"/>
              </a:rPr>
              <a:t> Angular Field Transformation and Deep Learning</a:t>
            </a:r>
            <a:r>
              <a:rPr lang="en-US" altLang="en-US" sz="1800" dirty="0">
                <a:solidFill>
                  <a:schemeClr val="tx1"/>
                </a:solidFill>
                <a:ea typeface="Calibri" panose="020F0502020204030204" pitchFamily="34" charset="0"/>
                <a:cs typeface="Calibri" panose="020F0502020204030204" pitchFamily="34" charset="0"/>
              </a:rPr>
              <a:t>, 2025.</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Ye Li et al., </a:t>
            </a:r>
            <a:r>
              <a:rPr kumimoji="0" lang="en-US" altLang="en-US" sz="1800" b="0" i="1"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Prediction of Cardiovascular Disease Events From the </a:t>
            </a:r>
            <a:r>
              <a:rPr kumimoji="0" lang="en-US" altLang="en-US" sz="1800" b="0" i="1" u="none" strike="noStrike" cap="none" normalizeH="0" baseline="0" dirty="0" err="1">
                <a:ln>
                  <a:noFill/>
                </a:ln>
                <a:solidFill>
                  <a:schemeClr val="tx1"/>
                </a:solidFill>
                <a:effectLst/>
                <a:latin typeface="+mj-lt"/>
                <a:ea typeface="Calibri" panose="020F0502020204030204" pitchFamily="34" charset="0"/>
                <a:cs typeface="Calibri" panose="020F0502020204030204" pitchFamily="34" charset="0"/>
              </a:rPr>
              <a:t>Photoplethysmograph</a:t>
            </a:r>
            <a:r>
              <a:rPr kumimoji="0" lang="en-US" altLang="en-US" sz="1800" b="0" i="1"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Waveform</a:t>
            </a:r>
            <a:r>
              <a:rPr kumimoji="0" lang="en-US" altLang="en-US" sz="18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2025.</a:t>
            </a:r>
          </a:p>
          <a:p>
            <a:pPr marL="342900" indent="-342900" eaLnBrk="0" fontAlgn="base" hangingPunct="0">
              <a:lnSpc>
                <a:spcPct val="150000"/>
              </a:lnSpc>
              <a:spcBef>
                <a:spcPct val="0"/>
              </a:spcBef>
              <a:spcAft>
                <a:spcPct val="0"/>
              </a:spcAft>
              <a:buClrTx/>
              <a:buFont typeface="+mj-lt"/>
              <a:buAutoNum type="arabicPeriod"/>
            </a:pPr>
            <a:r>
              <a:rPr lang="en-US" altLang="en-US" sz="1800" dirty="0">
                <a:solidFill>
                  <a:schemeClr val="tx1"/>
                </a:solidFill>
                <a:ea typeface="Calibri" panose="020F0502020204030204" pitchFamily="34" charset="0"/>
                <a:cs typeface="Calibri" panose="020F0502020204030204" pitchFamily="34" charset="0"/>
              </a:rPr>
              <a:t>Wu, Y., Tang, Q., Zhan, W., Li, S., &amp; Chen, Z., </a:t>
            </a:r>
            <a:r>
              <a:rPr lang="en-US" altLang="en-US" sz="1800" i="1" dirty="0">
                <a:solidFill>
                  <a:schemeClr val="tx1"/>
                </a:solidFill>
                <a:ea typeface="Calibri" panose="020F0502020204030204" pitchFamily="34" charset="0"/>
                <a:cs typeface="Calibri" panose="020F0502020204030204" pitchFamily="34" charset="0"/>
              </a:rPr>
              <a:t>Res-BiANet: A Hybrid Deep Learning Model for Arrhythmia Detection Based on PPG Signal</a:t>
            </a:r>
            <a:r>
              <a:rPr lang="en-US" altLang="en-US" sz="1800" dirty="0">
                <a:solidFill>
                  <a:schemeClr val="tx1"/>
                </a:solidFill>
                <a:ea typeface="Calibri" panose="020F0502020204030204" pitchFamily="34" charset="0"/>
                <a:cs typeface="Calibri" panose="020F0502020204030204" pitchFamily="34" charset="0"/>
              </a:rPr>
              <a:t>, Electronics, 2024.</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Sadaf Iqbal et al., </a:t>
            </a:r>
            <a:r>
              <a:rPr kumimoji="0" lang="en-US" altLang="en-US" sz="1800" b="0" i="1"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Deep Learning Identification of Coronary Artery Disease from Bilateral Finger Photoplethysmography Sensing</a:t>
            </a:r>
            <a:r>
              <a:rPr kumimoji="0" lang="en-US" altLang="en-US" sz="18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2023.</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Johnson, A. E. W. et al., </a:t>
            </a:r>
            <a:r>
              <a:rPr kumimoji="0" lang="en-US" altLang="en-US" sz="1800" b="0" i="1"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MIMIC-III: A Freely Accessible Critical Care Database</a:t>
            </a:r>
            <a:r>
              <a:rPr kumimoji="0" lang="en-US" altLang="en-US" sz="18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Scientific Data, Nature, 2016.</a:t>
            </a:r>
          </a:p>
          <a:p>
            <a:pPr marR="0" lvl="0" algn="l" defTabSz="914400" rtl="0" eaLnBrk="0" fontAlgn="base" latinLnBrk="0" hangingPunct="0">
              <a:lnSpc>
                <a:spcPct val="150000"/>
              </a:lnSpc>
              <a:spcBef>
                <a:spcPct val="0"/>
              </a:spcBef>
              <a:spcAft>
                <a:spcPct val="0"/>
              </a:spcAft>
              <a:buClrTx/>
              <a:buSzTx/>
              <a:tabLst/>
            </a:pPr>
            <a:r>
              <a:rPr lang="en-US" altLang="en-US" sz="1800" b="1" dirty="0">
                <a:solidFill>
                  <a:schemeClr val="tx1"/>
                </a:solidFill>
                <a:latin typeface="+mj-lt"/>
                <a:ea typeface="Calibri" panose="020F0502020204030204" pitchFamily="34" charset="0"/>
                <a:cs typeface="Calibri" panose="020F0502020204030204" pitchFamily="34" charset="0"/>
              </a:rPr>
              <a:t>Dataset Link:</a:t>
            </a:r>
            <a:endParaRPr kumimoji="0" lang="en-US" altLang="en-US" sz="18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IN" sz="1800" dirty="0"/>
              <a:t>MIMIC-III Dataset: </a:t>
            </a:r>
            <a:r>
              <a:rPr lang="en-IN" sz="1800" dirty="0">
                <a:hlinkClick r:id="rId4"/>
              </a:rPr>
              <a:t>https://physionet.org/content/mimiciii/</a:t>
            </a:r>
            <a:endParaRPr kumimoji="0" lang="en-US" altLang="en-US" sz="18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457</TotalTime>
  <Words>2273</Words>
  <Application>Microsoft Office PowerPoint</Application>
  <PresentationFormat>Widescreen</PresentationFormat>
  <Paragraphs>324</Paragraphs>
  <Slides>26</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Times New Roman</vt:lpstr>
      <vt:lpstr>Wingdings</vt:lpstr>
      <vt:lpstr>Noto Sans Symbols</vt:lpstr>
      <vt:lpstr>Arial</vt:lpstr>
      <vt:lpstr>Calibri</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Proposed Approach</vt:lpstr>
      <vt:lpstr>Experimentation</vt:lpstr>
      <vt:lpstr>Experimentation</vt:lpstr>
      <vt:lpstr>Model Performance &amp; Results</vt:lpstr>
      <vt:lpstr>Result Interpretation</vt:lpstr>
      <vt:lpstr>Confusion Matrix Analysis</vt:lpstr>
      <vt:lpstr>Comparison with Existing Work</vt:lpstr>
      <vt:lpstr>Key Improvements in Our Project</vt:lpstr>
      <vt:lpstr>Limitations</vt:lpstr>
      <vt:lpstr>Future Scope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devandla lalithsai</dc:creator>
  <cp:lastModifiedBy>rohith koppole</cp:lastModifiedBy>
  <cp:revision>17</cp:revision>
  <dcterms:created xsi:type="dcterms:W3CDTF">2026-01-30T00:33:00Z</dcterms:created>
  <dcterms:modified xsi:type="dcterms:W3CDTF">2026-02-10T11:54:35Z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1EE9D9A8F50246908E29C0D348292D69_12</vt:lpwstr>
  </property>
  <property fmtid="{D5CDD505-2E9C-101B-9397-08002B2CF9AE}" pid="3" name="KSOProductBuildVer">
    <vt:lpwstr>1033-12.2.0.23196</vt:lpwstr>
  </property>
</Properties>
</file>